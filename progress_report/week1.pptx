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7"/>
  </p:notesMasterIdLst>
  <p:sldIdLst>
    <p:sldId id="266" r:id="rId3"/>
    <p:sldId id="276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85" r:id="rId13"/>
    <p:sldId id="286" r:id="rId14"/>
    <p:sldId id="287" r:id="rId15"/>
    <p:sldId id="28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187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116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数量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候选部署点</c:v>
                </c:pt>
                <c:pt idx="1">
                  <c:v>路由样例</c:v>
                </c:pt>
                <c:pt idx="2">
                  <c:v>频率冲突约束</c:v>
                </c:pt>
                <c:pt idx="3">
                  <c:v>故障规则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160</c:v>
                </c:pt>
                <c:pt idx="2">
                  <c:v>600</c:v>
                </c:pt>
                <c:pt idx="3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CE-4F72-AB00-F65F26CEAB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7385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A95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270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12064" y="6419088"/>
            <a:ext cx="11155680" cy="0"/>
          </a:xfrm>
          <a:prstGeom prst="line">
            <a:avLst/>
          </a:prstGeom>
          <a:noFill/>
          <a:ln w="889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12064" y="6519672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A6"/>
                </a:solidFill>
              </a:rPr>
              <a:t>短波/超短波智能规划系统 · 项目进度汇报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28248" y="651052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5A6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" y="1417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56" b="1" dirty="0">
                <a:solidFill>
                  <a:srgbClr val="0B1F3A"/>
                </a:solidFill>
              </a:rPr>
              <a:t>短波/超短波智能规划与故障诊断</a:t>
            </a:r>
            <a:endParaRPr lang="en-US" sz="3456" dirty="0"/>
          </a:p>
        </p:txBody>
      </p:sp>
      <p:sp>
        <p:nvSpPr>
          <p:cNvPr id="8" name="Text 6"/>
          <p:cNvSpPr/>
          <p:nvPr/>
        </p:nvSpPr>
        <p:spPr>
          <a:xfrm>
            <a:off x="768096" y="208483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60" b="1" dirty="0">
                <a:solidFill>
                  <a:srgbClr val="1E5AA8"/>
                </a:solidFill>
              </a:rPr>
              <a:t>项目进度汇报</a:t>
            </a:r>
            <a:endParaRPr lang="en-US" sz="2160" dirty="0"/>
          </a:p>
        </p:txBody>
      </p:sp>
      <p:sp>
        <p:nvSpPr>
          <p:cNvPr id="9" name="Shape 7"/>
          <p:cNvSpPr/>
          <p:nvPr/>
        </p:nvSpPr>
        <p:spPr>
          <a:xfrm>
            <a:off x="768096" y="2798064"/>
            <a:ext cx="3749040" cy="0"/>
          </a:xfrm>
          <a:prstGeom prst="line">
            <a:avLst/>
          </a:prstGeom>
          <a:noFill/>
          <a:ln w="2794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744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12064" y="3840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44" b="1" dirty="0">
                <a:solidFill>
                  <a:srgbClr val="1E5AA8"/>
                </a:solidFill>
              </a:rPr>
              <a:t>01</a:t>
            </a:r>
            <a:endParaRPr lang="en-US" sz="1944" dirty="0"/>
          </a:p>
        </p:txBody>
      </p:sp>
      <p:sp>
        <p:nvSpPr>
          <p:cNvPr id="5" name="Text 3"/>
          <p:cNvSpPr/>
          <p:nvPr/>
        </p:nvSpPr>
        <p:spPr>
          <a:xfrm>
            <a:off x="1078992" y="34747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92" b="1" dirty="0">
                <a:solidFill>
                  <a:srgbClr val="0B1F3A"/>
                </a:solidFill>
              </a:rPr>
              <a:t>项目当前阶段</a:t>
            </a:r>
            <a:endParaRPr lang="en-US" sz="2592" dirty="0"/>
          </a:p>
        </p:txBody>
      </p:sp>
      <p:sp>
        <p:nvSpPr>
          <p:cNvPr id="6" name="Text 4"/>
          <p:cNvSpPr/>
          <p:nvPr/>
        </p:nvSpPr>
        <p:spPr>
          <a:xfrm>
            <a:off x="1097280" y="78638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6" dirty="0">
                <a:solidFill>
                  <a:srgbClr val="687385"/>
                </a:solidFill>
              </a:rPr>
              <a:t>从需求资料整理进入数据与算法原型阶段</a:t>
            </a:r>
            <a:endParaRPr lang="en-US" sz="1176" dirty="0"/>
          </a:p>
        </p:txBody>
      </p:sp>
      <p:sp>
        <p:nvSpPr>
          <p:cNvPr id="7" name="Shape 5"/>
          <p:cNvSpPr/>
          <p:nvPr/>
        </p:nvSpPr>
        <p:spPr>
          <a:xfrm>
            <a:off x="512064" y="1078992"/>
            <a:ext cx="1115568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12064" y="6419088"/>
            <a:ext cx="11155680" cy="0"/>
          </a:xfrm>
          <a:prstGeom prst="line">
            <a:avLst/>
          </a:prstGeom>
          <a:noFill/>
          <a:ln w="889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12064" y="6519672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A6"/>
                </a:solidFill>
              </a:rPr>
              <a:t>短波/超短波智能规划系统 · 项目进度汇报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128248" y="651052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5A6"/>
                </a:solidFill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1426464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5" b="1" dirty="0">
                <a:solidFill>
                  <a:srgbClr val="1E5AA8"/>
                </a:solidFill>
              </a:rPr>
              <a:t>阶段判断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713232" y="1737360"/>
            <a:ext cx="507492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00800" y="1426464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5" b="1" dirty="0">
                <a:solidFill>
                  <a:srgbClr val="1E5AA8"/>
                </a:solidFill>
              </a:rPr>
              <a:t>组内同步与进展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6400800" y="1737360"/>
            <a:ext cx="507492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04672" y="1938528"/>
            <a:ext cx="475488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82" dirty="0" err="1">
                <a:solidFill>
                  <a:srgbClr val="0B1F3A"/>
                </a:solidFill>
              </a:rPr>
              <a:t>截至</a:t>
            </a:r>
            <a:r>
              <a:rPr lang="en-US" sz="1482" dirty="0">
                <a:solidFill>
                  <a:srgbClr val="0B1F3A"/>
                </a:solidFill>
              </a:rPr>
              <a:t> 2026-09-1</a:t>
            </a:r>
            <a:r>
              <a:rPr lang="en-US" altLang="zh-CN" sz="1482" dirty="0">
                <a:solidFill>
                  <a:srgbClr val="0B1F3A"/>
                </a:solidFill>
              </a:rPr>
              <a:t>4</a:t>
            </a:r>
            <a:r>
              <a:rPr lang="en-US" sz="1482" dirty="0">
                <a:solidFill>
                  <a:srgbClr val="0B1F3A"/>
                </a:solidFill>
              </a:rPr>
              <a:t>，项目已完成第 1 周核心准备工作，并开始进入第 2 周算法原型阶段。</a:t>
            </a:r>
            <a:endParaRPr lang="en-US" sz="1482" dirty="0"/>
          </a:p>
          <a:p>
            <a:pPr marL="0" indent="0">
              <a:buNone/>
            </a:pPr>
            <a:endParaRPr lang="en-US" sz="1482" dirty="0"/>
          </a:p>
          <a:p>
            <a:pPr marL="0" indent="0">
              <a:buNone/>
            </a:pPr>
            <a:r>
              <a:rPr lang="en-US" sz="1482" dirty="0">
                <a:solidFill>
                  <a:srgbClr val="0B1F3A"/>
                </a:solidFill>
              </a:rPr>
              <a:t>当前进度已经从“需求资料整理”推进到“数据集可用、接口样例可用、算法服务骨架可运行”。</a:t>
            </a:r>
            <a:endParaRPr lang="en-US" sz="1482" dirty="0"/>
          </a:p>
        </p:txBody>
      </p:sp>
      <p:sp>
        <p:nvSpPr>
          <p:cNvPr id="16" name="Shape 14"/>
          <p:cNvSpPr/>
          <p:nvPr/>
        </p:nvSpPr>
        <p:spPr>
          <a:xfrm>
            <a:off x="868680" y="4160520"/>
            <a:ext cx="201168" cy="201168"/>
          </a:xfrm>
          <a:prstGeom prst="ellipse">
            <a:avLst/>
          </a:prstGeom>
          <a:solidFill>
            <a:srgbClr val="1E5AA8"/>
          </a:solidFill>
          <a:ln w="1524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1088136" y="4261104"/>
            <a:ext cx="841248" cy="0"/>
          </a:xfrm>
          <a:prstGeom prst="line">
            <a:avLst/>
          </a:prstGeom>
          <a:noFill/>
          <a:ln w="1270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40080" y="452628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</a:rPr>
              <a:t>需求资料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947672" y="4160520"/>
            <a:ext cx="201168" cy="201168"/>
          </a:xfrm>
          <a:prstGeom prst="ellipse">
            <a:avLst/>
          </a:prstGeom>
          <a:solidFill>
            <a:srgbClr val="1E5AA8"/>
          </a:solidFill>
          <a:ln w="1524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2167128" y="4261104"/>
            <a:ext cx="841248" cy="0"/>
          </a:xfrm>
          <a:prstGeom prst="line">
            <a:avLst/>
          </a:prstGeom>
          <a:noFill/>
          <a:ln w="1270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719072" y="452628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</a:rPr>
              <a:t>数据集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026664" y="4160520"/>
            <a:ext cx="201168" cy="201168"/>
          </a:xfrm>
          <a:prstGeom prst="ellipse">
            <a:avLst/>
          </a:prstGeom>
          <a:solidFill>
            <a:srgbClr val="1E5AA8"/>
          </a:solidFill>
          <a:ln w="1524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3246120" y="4261104"/>
            <a:ext cx="841248" cy="0"/>
          </a:xfrm>
          <a:prstGeom prst="line">
            <a:avLst/>
          </a:prstGeom>
          <a:noFill/>
          <a:ln w="1270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2798064" y="452628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</a:rPr>
              <a:t>接口样例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05656" y="4160520"/>
            <a:ext cx="201168" cy="201168"/>
          </a:xfrm>
          <a:prstGeom prst="ellipse">
            <a:avLst/>
          </a:prstGeom>
          <a:solidFill>
            <a:srgbClr val="1E5AA8"/>
          </a:solidFill>
          <a:ln w="1524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4325112" y="4261104"/>
            <a:ext cx="841248" cy="0"/>
          </a:xfrm>
          <a:prstGeom prst="line">
            <a:avLst/>
          </a:prstGeom>
          <a:noFill/>
          <a:ln w="1270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3877056" y="452628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</a:rPr>
              <a:t>服务骨架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84648" y="4160520"/>
            <a:ext cx="201168" cy="2011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956048" y="452628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87385"/>
                </a:solidFill>
              </a:rPr>
              <a:t>算法原型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46520" y="1920240"/>
            <a:ext cx="4892040" cy="1005840"/>
          </a:xfrm>
          <a:prstGeom prst="roundRect">
            <a:avLst>
              <a:gd name="adj" fmla="val 3636"/>
            </a:avLst>
          </a:prstGeom>
          <a:solidFill>
            <a:srgbClr val="FFFFFF">
              <a:alpha val="0"/>
            </a:srgbClr>
          </a:solidFill>
          <a:ln w="1016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748272" y="222199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2E7D5B"/>
                </a:solidFill>
              </a:rPr>
              <a:t>✓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7004304" y="2226564"/>
            <a:ext cx="4089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0B1F3A"/>
                </a:solidFill>
              </a:rPr>
              <a:t>组内资料已同步</a:t>
            </a:r>
            <a:endParaRPr lang="en-US" sz="1140" dirty="0"/>
          </a:p>
        </p:txBody>
      </p:sp>
      <p:sp>
        <p:nvSpPr>
          <p:cNvPr id="33" name="Text 31"/>
          <p:cNvSpPr/>
          <p:nvPr/>
        </p:nvSpPr>
        <p:spPr>
          <a:xfrm>
            <a:off x="6748272" y="2578608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2E7D5B"/>
                </a:solidFill>
              </a:rPr>
              <a:t>✓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7004304" y="2583180"/>
            <a:ext cx="4089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0B1F3A"/>
                </a:solidFill>
              </a:rPr>
              <a:t>接口样例已可联调</a:t>
            </a:r>
            <a:endParaRPr lang="en-US" sz="1140" dirty="0"/>
          </a:p>
        </p:txBody>
      </p:sp>
      <p:sp>
        <p:nvSpPr>
          <p:cNvPr id="35" name="Shape 33"/>
          <p:cNvSpPr/>
          <p:nvPr/>
        </p:nvSpPr>
        <p:spPr>
          <a:xfrm>
            <a:off x="6446520" y="3337560"/>
            <a:ext cx="4892040" cy="1481328"/>
          </a:xfrm>
          <a:prstGeom prst="roundRect">
            <a:avLst>
              <a:gd name="adj" fmla="val 2469"/>
            </a:avLst>
          </a:prstGeom>
          <a:solidFill>
            <a:srgbClr val="FFFFFF">
              <a:alpha val="0"/>
            </a:srgbClr>
          </a:solidFill>
          <a:ln w="1016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711696" y="361188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4" b="1" dirty="0">
                <a:solidFill>
                  <a:srgbClr val="1E5AA8"/>
                </a:solidFill>
              </a:rPr>
              <a:t>最新关键进展</a:t>
            </a:r>
            <a:endParaRPr lang="en-US" sz="1224" dirty="0"/>
          </a:p>
        </p:txBody>
      </p:sp>
      <p:sp>
        <p:nvSpPr>
          <p:cNvPr id="37" name="Text 35"/>
          <p:cNvSpPr/>
          <p:nvPr/>
        </p:nvSpPr>
        <p:spPr>
          <a:xfrm>
            <a:off x="6711696" y="3822191"/>
            <a:ext cx="4297680" cy="3200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873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算法测试数据与接口样例已补齐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11696" y="4169664"/>
            <a:ext cx="4297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873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候选部署点筛选服务骨架已启动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71978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12064" y="3840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44" b="1" dirty="0">
                <a:solidFill>
                  <a:srgbClr val="1E5AA8"/>
                </a:solidFill>
              </a:rPr>
              <a:t>02</a:t>
            </a:r>
            <a:endParaRPr lang="en-US" sz="1944" dirty="0"/>
          </a:p>
        </p:txBody>
      </p:sp>
      <p:sp>
        <p:nvSpPr>
          <p:cNvPr id="5" name="Text 3"/>
          <p:cNvSpPr/>
          <p:nvPr/>
        </p:nvSpPr>
        <p:spPr>
          <a:xfrm>
            <a:off x="1078992" y="34747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92" b="1" dirty="0">
                <a:solidFill>
                  <a:srgbClr val="0B1F3A"/>
                </a:solidFill>
              </a:rPr>
              <a:t>已完成的数据准备</a:t>
            </a:r>
            <a:endParaRPr lang="en-US" sz="2592" dirty="0"/>
          </a:p>
        </p:txBody>
      </p:sp>
      <p:sp>
        <p:nvSpPr>
          <p:cNvPr id="6" name="Text 4"/>
          <p:cNvSpPr/>
          <p:nvPr/>
        </p:nvSpPr>
        <p:spPr>
          <a:xfrm>
            <a:off x="1097280" y="78638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6" dirty="0">
                <a:solidFill>
                  <a:srgbClr val="687385"/>
                </a:solidFill>
              </a:rPr>
              <a:t>第一阶段算法测试数据集已形成</a:t>
            </a:r>
            <a:endParaRPr lang="en-US" sz="1176" dirty="0"/>
          </a:p>
        </p:txBody>
      </p:sp>
      <p:sp>
        <p:nvSpPr>
          <p:cNvPr id="7" name="Shape 5"/>
          <p:cNvSpPr/>
          <p:nvPr/>
        </p:nvSpPr>
        <p:spPr>
          <a:xfrm>
            <a:off x="512064" y="1078992"/>
            <a:ext cx="1115568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12064" y="6419088"/>
            <a:ext cx="11155680" cy="0"/>
          </a:xfrm>
          <a:prstGeom prst="line">
            <a:avLst/>
          </a:prstGeom>
          <a:noFill/>
          <a:ln w="889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12064" y="6519672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A6"/>
                </a:solidFill>
              </a:rPr>
              <a:t>短波/超短波智能规划系统 · 项目进度汇报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128248" y="651052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5A6"/>
                </a:solidFill>
              </a:rPr>
              <a:t>03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1353312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5" b="1" dirty="0">
                <a:solidFill>
                  <a:srgbClr val="1E5AA8"/>
                </a:solidFill>
              </a:rPr>
              <a:t>核心数据规模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713232" y="1664208"/>
            <a:ext cx="1088136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731520" y="1792224"/>
            <a:ext cx="10698480" cy="1143000"/>
          </a:xfrm>
          <a:prstGeom prst="roundRect">
            <a:avLst>
              <a:gd name="adj" fmla="val 3200"/>
            </a:avLst>
          </a:prstGeom>
          <a:solidFill>
            <a:srgbClr val="FFFFFF">
              <a:alpha val="0"/>
            </a:srgbClr>
          </a:solidFill>
          <a:ln w="1016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14400" y="197510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76" b="1" dirty="0">
                <a:solidFill>
                  <a:srgbClr val="1E5AA8"/>
                </a:solidFill>
              </a:rPr>
              <a:t>156</a:t>
            </a:r>
            <a:endParaRPr lang="en-US" sz="2376" dirty="0"/>
          </a:p>
        </p:txBody>
      </p:sp>
      <p:sp>
        <p:nvSpPr>
          <p:cNvPr id="15" name="Text 13"/>
          <p:cNvSpPr/>
          <p:nvPr/>
        </p:nvSpPr>
        <p:spPr>
          <a:xfrm>
            <a:off x="914400" y="235915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8" dirty="0">
                <a:solidFill>
                  <a:srgbClr val="687385"/>
                </a:solidFill>
              </a:rPr>
              <a:t>节点数据</a:t>
            </a:r>
            <a:endParaRPr lang="en-US" sz="1008" dirty="0"/>
          </a:p>
        </p:txBody>
      </p:sp>
      <p:sp>
        <p:nvSpPr>
          <p:cNvPr id="16" name="Text 14"/>
          <p:cNvSpPr/>
          <p:nvPr/>
        </p:nvSpPr>
        <p:spPr>
          <a:xfrm>
            <a:off x="914400" y="2578608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8A95A6"/>
                </a:solidFill>
              </a:rPr>
              <a:t>HF 52 · VUHF 104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606040" y="197510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76" b="1" dirty="0">
                <a:solidFill>
                  <a:srgbClr val="1E5AA8"/>
                </a:solidFill>
              </a:rPr>
              <a:t>303</a:t>
            </a:r>
            <a:endParaRPr lang="en-US" sz="2376" dirty="0"/>
          </a:p>
        </p:txBody>
      </p:sp>
      <p:sp>
        <p:nvSpPr>
          <p:cNvPr id="18" name="Text 16"/>
          <p:cNvSpPr/>
          <p:nvPr/>
        </p:nvSpPr>
        <p:spPr>
          <a:xfrm>
            <a:off x="2606040" y="235915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8" dirty="0">
                <a:solidFill>
                  <a:srgbClr val="687385"/>
                </a:solidFill>
              </a:rPr>
              <a:t>任务通联</a:t>
            </a:r>
            <a:endParaRPr lang="en-US" sz="1008" dirty="0"/>
          </a:p>
        </p:txBody>
      </p:sp>
      <p:sp>
        <p:nvSpPr>
          <p:cNvPr id="19" name="Text 17"/>
          <p:cNvSpPr/>
          <p:nvPr/>
        </p:nvSpPr>
        <p:spPr>
          <a:xfrm>
            <a:off x="4297680" y="197510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76" b="1" dirty="0">
                <a:solidFill>
                  <a:srgbClr val="1E5AA8"/>
                </a:solidFill>
              </a:rPr>
              <a:t>94</a:t>
            </a:r>
            <a:endParaRPr lang="en-US" sz="2376" dirty="0"/>
          </a:p>
        </p:txBody>
      </p:sp>
      <p:sp>
        <p:nvSpPr>
          <p:cNvPr id="20" name="Text 18"/>
          <p:cNvSpPr/>
          <p:nvPr/>
        </p:nvSpPr>
        <p:spPr>
          <a:xfrm>
            <a:off x="4297680" y="235915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8" dirty="0">
                <a:solidFill>
                  <a:srgbClr val="687385"/>
                </a:solidFill>
              </a:rPr>
              <a:t>频率资源</a:t>
            </a:r>
            <a:endParaRPr lang="en-US" sz="1008" dirty="0"/>
          </a:p>
        </p:txBody>
      </p:sp>
      <p:sp>
        <p:nvSpPr>
          <p:cNvPr id="21" name="Text 19"/>
          <p:cNvSpPr/>
          <p:nvPr/>
        </p:nvSpPr>
        <p:spPr>
          <a:xfrm>
            <a:off x="4297680" y="2578608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8A95A6"/>
                </a:solidFill>
              </a:rPr>
              <a:t>HF 46 · VUHF 48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989320" y="197510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76" b="1" dirty="0">
                <a:solidFill>
                  <a:srgbClr val="1E5AA8"/>
                </a:solidFill>
              </a:rPr>
              <a:t>500</a:t>
            </a:r>
            <a:endParaRPr lang="en-US" sz="2376" dirty="0"/>
          </a:p>
        </p:txBody>
      </p:sp>
      <p:sp>
        <p:nvSpPr>
          <p:cNvPr id="23" name="Text 21"/>
          <p:cNvSpPr/>
          <p:nvPr/>
        </p:nvSpPr>
        <p:spPr>
          <a:xfrm>
            <a:off x="5989320" y="235915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8" dirty="0">
                <a:solidFill>
                  <a:srgbClr val="687385"/>
                </a:solidFill>
              </a:rPr>
              <a:t>拓扑链路</a:t>
            </a:r>
            <a:endParaRPr lang="en-US" sz="1008" dirty="0"/>
          </a:p>
        </p:txBody>
      </p:sp>
      <p:sp>
        <p:nvSpPr>
          <p:cNvPr id="24" name="Text 22"/>
          <p:cNvSpPr/>
          <p:nvPr/>
        </p:nvSpPr>
        <p:spPr>
          <a:xfrm>
            <a:off x="5989320" y="2578608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8A95A6"/>
                </a:solidFill>
              </a:rPr>
              <a:t>HF 147 · VUHF 353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680960" y="197510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76" b="1" dirty="0">
                <a:solidFill>
                  <a:srgbClr val="1E5AA8"/>
                </a:solidFill>
              </a:rPr>
              <a:t>2500</a:t>
            </a:r>
            <a:endParaRPr lang="en-US" sz="2376" dirty="0"/>
          </a:p>
        </p:txBody>
      </p:sp>
      <p:sp>
        <p:nvSpPr>
          <p:cNvPr id="26" name="Text 24"/>
          <p:cNvSpPr/>
          <p:nvPr/>
        </p:nvSpPr>
        <p:spPr>
          <a:xfrm>
            <a:off x="7680960" y="235915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8" dirty="0">
                <a:solidFill>
                  <a:srgbClr val="687385"/>
                </a:solidFill>
              </a:rPr>
              <a:t>链路状态</a:t>
            </a:r>
            <a:endParaRPr lang="en-US" sz="1008" dirty="0"/>
          </a:p>
        </p:txBody>
      </p:sp>
      <p:sp>
        <p:nvSpPr>
          <p:cNvPr id="27" name="Text 25"/>
          <p:cNvSpPr/>
          <p:nvPr/>
        </p:nvSpPr>
        <p:spPr>
          <a:xfrm>
            <a:off x="9372600" y="197510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76" b="1" dirty="0">
                <a:solidFill>
                  <a:srgbClr val="1E5AA8"/>
                </a:solidFill>
              </a:rPr>
              <a:t>240</a:t>
            </a:r>
            <a:endParaRPr lang="en-US" sz="2376" dirty="0"/>
          </a:p>
        </p:txBody>
      </p:sp>
      <p:sp>
        <p:nvSpPr>
          <p:cNvPr id="28" name="Text 26"/>
          <p:cNvSpPr/>
          <p:nvPr/>
        </p:nvSpPr>
        <p:spPr>
          <a:xfrm>
            <a:off x="9372600" y="235915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8" dirty="0">
                <a:solidFill>
                  <a:srgbClr val="687385"/>
                </a:solidFill>
              </a:rPr>
              <a:t>故障案例</a:t>
            </a:r>
            <a:endParaRPr lang="en-US" sz="1008" dirty="0"/>
          </a:p>
        </p:txBody>
      </p:sp>
      <p:sp>
        <p:nvSpPr>
          <p:cNvPr id="29" name="Text 27"/>
          <p:cNvSpPr/>
          <p:nvPr/>
        </p:nvSpPr>
        <p:spPr>
          <a:xfrm>
            <a:off x="713232" y="342900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5" b="1" dirty="0">
                <a:solidFill>
                  <a:srgbClr val="1E5AA8"/>
                </a:solidFill>
              </a:rPr>
              <a:t>补充数据覆盖</a:t>
            </a:r>
            <a:endParaRPr lang="en-US" sz="1425" dirty="0"/>
          </a:p>
        </p:txBody>
      </p:sp>
      <p:sp>
        <p:nvSpPr>
          <p:cNvPr id="30" name="Shape 28"/>
          <p:cNvSpPr/>
          <p:nvPr/>
        </p:nvSpPr>
        <p:spPr>
          <a:xfrm>
            <a:off x="713232" y="3739896"/>
            <a:ext cx="502920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446520" y="3429000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5" b="1" dirty="0">
                <a:solidFill>
                  <a:srgbClr val="1E5AA8"/>
                </a:solidFill>
              </a:rPr>
              <a:t>数据用途</a:t>
            </a:r>
            <a:endParaRPr lang="en-US" sz="1425" dirty="0"/>
          </a:p>
        </p:txBody>
      </p:sp>
      <p:sp>
        <p:nvSpPr>
          <p:cNvPr id="32" name="Shape 30"/>
          <p:cNvSpPr/>
          <p:nvPr/>
        </p:nvSpPr>
        <p:spPr>
          <a:xfrm>
            <a:off x="6446520" y="3739896"/>
            <a:ext cx="498348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3" name="Chart 0"/>
          <p:cNvGraphicFramePr/>
          <p:nvPr/>
        </p:nvGraphicFramePr>
        <p:xfrm>
          <a:off x="749808" y="3822192"/>
          <a:ext cx="498348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" name="Shape 31"/>
          <p:cNvSpPr/>
          <p:nvPr/>
        </p:nvSpPr>
        <p:spPr>
          <a:xfrm>
            <a:off x="6473952" y="3822192"/>
            <a:ext cx="4754880" cy="2011680"/>
          </a:xfrm>
          <a:prstGeom prst="roundRect">
            <a:avLst>
              <a:gd name="adj" fmla="val 1818"/>
            </a:avLst>
          </a:prstGeom>
          <a:solidFill>
            <a:srgbClr val="FFFFFF">
              <a:alpha val="0"/>
            </a:srgbClr>
          </a:solidFill>
          <a:ln w="1016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2"/>
          <p:cNvSpPr/>
          <p:nvPr/>
        </p:nvSpPr>
        <p:spPr>
          <a:xfrm>
            <a:off x="6720840" y="4133088"/>
            <a:ext cx="429768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4" b="1" dirty="0">
                <a:solidFill>
                  <a:srgbClr val="1E5AA8"/>
                </a:solidFill>
              </a:rPr>
              <a:t>• </a:t>
            </a:r>
            <a:r>
              <a:rPr lang="en-US" sz="1224" dirty="0">
                <a:solidFill>
                  <a:srgbClr val="0B1F3A"/>
                </a:solidFill>
              </a:rPr>
              <a:t>部署规划：候选点、节点、设备实例可用
</a:t>
            </a:r>
            <a:r>
              <a:rPr lang="en-US" sz="1224" b="1" dirty="0">
                <a:solidFill>
                  <a:srgbClr val="1E5AA8"/>
                </a:solidFill>
              </a:rPr>
              <a:t>• </a:t>
            </a:r>
            <a:r>
              <a:rPr lang="en-US" sz="1224" dirty="0">
                <a:solidFill>
                  <a:srgbClr val="0B1F3A"/>
                </a:solidFill>
              </a:rPr>
              <a:t>路由规划：拓扑链路与路由样例可用
</a:t>
            </a:r>
            <a:r>
              <a:rPr lang="en-US" sz="1224" b="1" dirty="0">
                <a:solidFill>
                  <a:srgbClr val="1E5AA8"/>
                </a:solidFill>
              </a:rPr>
              <a:t>• </a:t>
            </a:r>
            <a:r>
              <a:rPr lang="en-US" sz="1224" dirty="0">
                <a:solidFill>
                  <a:srgbClr val="0B1F3A"/>
                </a:solidFill>
              </a:rPr>
              <a:t>频率分配：频率资源与冲突约束可用
</a:t>
            </a:r>
            <a:r>
              <a:rPr lang="en-US" sz="1224" b="1" dirty="0">
                <a:solidFill>
                  <a:srgbClr val="1E5AA8"/>
                </a:solidFill>
              </a:rPr>
              <a:t>• </a:t>
            </a:r>
            <a:r>
              <a:rPr lang="en-US" sz="1224" dirty="0">
                <a:solidFill>
                  <a:srgbClr val="0B1F3A"/>
                </a:solidFill>
              </a:rPr>
              <a:t>故障诊断：案例、规则、字典数据可用</a:t>
            </a:r>
            <a:endParaRPr lang="en-US" sz="1224" dirty="0"/>
          </a:p>
        </p:txBody>
      </p:sp>
    </p:spTree>
    <p:extLst>
      <p:ext uri="{BB962C8B-B14F-4D97-AF65-F5344CB8AC3E}">
        <p14:creationId xmlns:p14="http://schemas.microsoft.com/office/powerpoint/2010/main" val="1484481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12064" y="3840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44" b="1" dirty="0">
                <a:solidFill>
                  <a:srgbClr val="1E5AA8"/>
                </a:solidFill>
              </a:rPr>
              <a:t>03</a:t>
            </a:r>
            <a:endParaRPr lang="en-US" sz="1944" dirty="0"/>
          </a:p>
        </p:txBody>
      </p:sp>
      <p:sp>
        <p:nvSpPr>
          <p:cNvPr id="5" name="Text 3"/>
          <p:cNvSpPr/>
          <p:nvPr/>
        </p:nvSpPr>
        <p:spPr>
          <a:xfrm>
            <a:off x="1078992" y="34747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92" b="1" dirty="0">
                <a:solidFill>
                  <a:srgbClr val="0B1F3A"/>
                </a:solidFill>
              </a:rPr>
              <a:t>数据目录与归档</a:t>
            </a:r>
            <a:endParaRPr lang="en-US" sz="2592" dirty="0"/>
          </a:p>
        </p:txBody>
      </p:sp>
      <p:sp>
        <p:nvSpPr>
          <p:cNvPr id="6" name="Text 4"/>
          <p:cNvSpPr/>
          <p:nvPr/>
        </p:nvSpPr>
        <p:spPr>
          <a:xfrm>
            <a:off x="1097280" y="78638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6" dirty="0">
                <a:solidFill>
                  <a:srgbClr val="687385"/>
                </a:solidFill>
              </a:rPr>
              <a:t>按算法输入、故障诊断、接口模板进行整理</a:t>
            </a:r>
            <a:endParaRPr lang="en-US" sz="1176" dirty="0"/>
          </a:p>
        </p:txBody>
      </p:sp>
      <p:sp>
        <p:nvSpPr>
          <p:cNvPr id="7" name="Shape 5"/>
          <p:cNvSpPr/>
          <p:nvPr/>
        </p:nvSpPr>
        <p:spPr>
          <a:xfrm>
            <a:off x="512064" y="1078992"/>
            <a:ext cx="1115568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12064" y="6419088"/>
            <a:ext cx="11155680" cy="0"/>
          </a:xfrm>
          <a:prstGeom prst="line">
            <a:avLst/>
          </a:prstGeom>
          <a:noFill/>
          <a:ln w="889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12064" y="6519672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A6"/>
                </a:solidFill>
              </a:rPr>
              <a:t>短波/超短波智能规划系统 · 项目进度汇报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128248" y="651052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5A6"/>
                </a:solidFill>
              </a:rPr>
              <a:t>04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1353312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5" b="1" dirty="0">
                <a:solidFill>
                  <a:srgbClr val="1E5AA8"/>
                </a:solidFill>
              </a:rPr>
              <a:t>数据目录结构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713232" y="1664208"/>
            <a:ext cx="521208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46520" y="135331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5" b="1" dirty="0">
                <a:solidFill>
                  <a:srgbClr val="1E5AA8"/>
                </a:solidFill>
              </a:rPr>
              <a:t>大体量数据处理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6446520" y="1664208"/>
            <a:ext cx="502920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749808" y="1847088"/>
            <a:ext cx="1920240" cy="438912"/>
          </a:xfrm>
          <a:prstGeom prst="rect">
            <a:avLst/>
          </a:prstGeom>
          <a:solidFill>
            <a:srgbClr val="EEF3F8"/>
          </a:solidFill>
          <a:ln w="635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04672" y="1933956"/>
            <a:ext cx="18105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008" b="1" dirty="0">
                <a:solidFill>
                  <a:srgbClr val="0B1F3A"/>
                </a:solidFill>
              </a:rPr>
              <a:t>目录</a:t>
            </a:r>
            <a:endParaRPr lang="en-US" sz="1008" dirty="0"/>
          </a:p>
        </p:txBody>
      </p:sp>
      <p:sp>
        <p:nvSpPr>
          <p:cNvPr id="17" name="Shape 15"/>
          <p:cNvSpPr/>
          <p:nvPr/>
        </p:nvSpPr>
        <p:spPr>
          <a:xfrm>
            <a:off x="2670048" y="1847088"/>
            <a:ext cx="3566160" cy="438912"/>
          </a:xfrm>
          <a:prstGeom prst="rect">
            <a:avLst/>
          </a:prstGeom>
          <a:solidFill>
            <a:srgbClr val="EEF3F8"/>
          </a:solidFill>
          <a:ln w="635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2724912" y="1933956"/>
            <a:ext cx="34564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008" b="1" dirty="0">
                <a:solidFill>
                  <a:srgbClr val="0B1F3A"/>
                </a:solidFill>
              </a:rPr>
              <a:t>用途</a:t>
            </a:r>
            <a:endParaRPr lang="en-US" sz="1008" dirty="0"/>
          </a:p>
        </p:txBody>
      </p:sp>
      <p:sp>
        <p:nvSpPr>
          <p:cNvPr id="19" name="Shape 17"/>
          <p:cNvSpPr/>
          <p:nvPr/>
        </p:nvSpPr>
        <p:spPr>
          <a:xfrm>
            <a:off x="749808" y="2286000"/>
            <a:ext cx="1920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04672" y="2372867"/>
            <a:ext cx="1810512" cy="3383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87385"/>
                </a:solidFill>
              </a:rPr>
              <a:t>data/synthetic/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70048" y="2286000"/>
            <a:ext cx="3566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2724912" y="2372867"/>
            <a:ext cx="3456432" cy="34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87385"/>
                </a:solidFill>
              </a:rPr>
              <a:t>算法可直接读取的构造测试数据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9808" y="2724912"/>
            <a:ext cx="1920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04672" y="2811780"/>
            <a:ext cx="1810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87385"/>
                </a:solidFill>
              </a:rPr>
              <a:t>data/fault/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70048" y="2724912"/>
            <a:ext cx="3566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2724912" y="2811780"/>
            <a:ext cx="34564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87385"/>
                </a:solidFill>
              </a:rPr>
              <a:t>故障案例、故障场景、故障规则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9808" y="3163824"/>
            <a:ext cx="1920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04672" y="3250692"/>
            <a:ext cx="1810512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87385"/>
                </a:solidFill>
              </a:rPr>
              <a:t>data/dictionary/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670048" y="3163824"/>
            <a:ext cx="3566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2724912" y="3250692"/>
            <a:ext cx="34564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87385"/>
                </a:solidFill>
              </a:rPr>
              <a:t>故障现象字典、数据字典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49808" y="3602736"/>
            <a:ext cx="1920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04672" y="3689603"/>
            <a:ext cx="1810512" cy="3383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87385"/>
                </a:solidFill>
              </a:rPr>
              <a:t>data/schemas/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670048" y="3602736"/>
            <a:ext cx="3566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2724912" y="3689604"/>
            <a:ext cx="34564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87385"/>
                </a:solidFill>
              </a:rPr>
              <a:t>字段模板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9808" y="4041648"/>
            <a:ext cx="1920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04672" y="4128516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87385"/>
                </a:solidFill>
              </a:rPr>
              <a:t>data/imported/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670048" y="4041648"/>
            <a:ext cx="3566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2724912" y="4128516"/>
            <a:ext cx="34564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87385"/>
                </a:solidFill>
              </a:rPr>
              <a:t>外部导入原始数据归档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73952" y="1847088"/>
            <a:ext cx="4754880" cy="2423160"/>
          </a:xfrm>
          <a:prstGeom prst="roundRect">
            <a:avLst>
              <a:gd name="adj" fmla="val 1509"/>
            </a:avLst>
          </a:prstGeom>
          <a:solidFill>
            <a:srgbClr val="FFFFFF">
              <a:alpha val="0"/>
            </a:srgbClr>
          </a:solidFill>
          <a:ln w="1016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6720840" y="2148840"/>
            <a:ext cx="4206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0B1F3A"/>
                </a:solidFill>
              </a:rPr>
              <a:t>原始大文件已在组内环境归档，汇报仅保留处理口径：</a:t>
            </a:r>
            <a:endParaRPr lang="en-US" sz="1260" dirty="0"/>
          </a:p>
        </p:txBody>
      </p:sp>
      <p:sp>
        <p:nvSpPr>
          <p:cNvPr id="41" name="Text 39"/>
          <p:cNvSpPr/>
          <p:nvPr/>
        </p:nvSpPr>
        <p:spPr>
          <a:xfrm>
            <a:off x="6720840" y="258775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873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地形/地物/道路数据已完成整理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20840" y="2889504"/>
            <a:ext cx="4023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873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设备资料与故障案例已完成归档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720840" y="3163824"/>
            <a:ext cx="4023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873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原始数据包保持离线备份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73952" y="4617720"/>
            <a:ext cx="4754880" cy="804672"/>
          </a:xfrm>
          <a:prstGeom prst="roundRect">
            <a:avLst>
              <a:gd name="adj" fmla="val 4545"/>
            </a:avLst>
          </a:prstGeom>
          <a:solidFill>
            <a:srgbClr val="EEF3F8">
              <a:alpha val="0"/>
            </a:srgbClr>
          </a:solidFill>
          <a:ln w="1016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6720840" y="4864608"/>
            <a:ext cx="42519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311" dirty="0">
                <a:solidFill>
                  <a:srgbClr val="0B1F3A"/>
                </a:solidFill>
              </a:rPr>
              <a:t>组内保留可复现的数据结构、样例和脚本，原始大文件不对外展开。</a:t>
            </a:r>
            <a:endParaRPr lang="en-US" sz="1311" dirty="0"/>
          </a:p>
        </p:txBody>
      </p:sp>
    </p:spTree>
    <p:extLst>
      <p:ext uri="{BB962C8B-B14F-4D97-AF65-F5344CB8AC3E}">
        <p14:creationId xmlns:p14="http://schemas.microsoft.com/office/powerpoint/2010/main" val="4086684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12064" y="3840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44" b="1" dirty="0">
                <a:solidFill>
                  <a:srgbClr val="1E5AA8"/>
                </a:solidFill>
              </a:rPr>
              <a:t>04</a:t>
            </a:r>
            <a:endParaRPr lang="en-US" sz="1944" dirty="0"/>
          </a:p>
        </p:txBody>
      </p:sp>
      <p:sp>
        <p:nvSpPr>
          <p:cNvPr id="5" name="Text 3"/>
          <p:cNvSpPr/>
          <p:nvPr/>
        </p:nvSpPr>
        <p:spPr>
          <a:xfrm>
            <a:off x="1078992" y="34747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92" b="1" dirty="0">
                <a:solidFill>
                  <a:srgbClr val="0B1F3A"/>
                </a:solidFill>
              </a:rPr>
              <a:t>原始数据情况</a:t>
            </a:r>
            <a:endParaRPr lang="en-US" sz="2592" dirty="0"/>
          </a:p>
        </p:txBody>
      </p:sp>
      <p:sp>
        <p:nvSpPr>
          <p:cNvPr id="6" name="Text 4"/>
          <p:cNvSpPr/>
          <p:nvPr/>
        </p:nvSpPr>
        <p:spPr>
          <a:xfrm>
            <a:off x="1097280" y="78638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6" dirty="0">
                <a:solidFill>
                  <a:srgbClr val="687385"/>
                </a:solidFill>
              </a:rPr>
              <a:t>data.zip 已导入并完成本地归档</a:t>
            </a:r>
            <a:endParaRPr lang="en-US" sz="1176" dirty="0"/>
          </a:p>
        </p:txBody>
      </p:sp>
      <p:sp>
        <p:nvSpPr>
          <p:cNvPr id="7" name="Shape 5"/>
          <p:cNvSpPr/>
          <p:nvPr/>
        </p:nvSpPr>
        <p:spPr>
          <a:xfrm>
            <a:off x="512064" y="1078992"/>
            <a:ext cx="1115568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12064" y="6419088"/>
            <a:ext cx="11155680" cy="0"/>
          </a:xfrm>
          <a:prstGeom prst="line">
            <a:avLst/>
          </a:prstGeom>
          <a:noFill/>
          <a:ln w="889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12064" y="6519672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A6"/>
                </a:solidFill>
              </a:rPr>
              <a:t>短波/超短波智能规划系统 · 项目进度汇报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128248" y="651052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5A6"/>
                </a:solidFill>
              </a:rPr>
              <a:t>05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1353312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5" b="1" dirty="0">
                <a:solidFill>
                  <a:srgbClr val="1E5AA8"/>
                </a:solidFill>
              </a:rPr>
              <a:t>归档路径与内容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713232" y="1664208"/>
            <a:ext cx="539496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46520" y="135331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5" b="1" dirty="0">
                <a:solidFill>
                  <a:srgbClr val="1E5AA8"/>
                </a:solidFill>
              </a:rPr>
              <a:t>测试区域范围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6446520" y="1664208"/>
            <a:ext cx="502920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749808" y="1847088"/>
            <a:ext cx="5349240" cy="502920"/>
          </a:xfrm>
          <a:prstGeom prst="roundRect">
            <a:avLst>
              <a:gd name="adj" fmla="val 7273"/>
            </a:avLst>
          </a:prstGeom>
          <a:solidFill>
            <a:srgbClr val="FFFFFF">
              <a:alpha val="0"/>
            </a:srgbClr>
          </a:solidFill>
          <a:ln w="1016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960120" y="184708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873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data/imported/data_zip_20260911/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9808" y="2743200"/>
            <a:ext cx="5349240" cy="2514600"/>
          </a:xfrm>
          <a:prstGeom prst="roundRect">
            <a:avLst>
              <a:gd name="adj" fmla="val 1455"/>
            </a:avLst>
          </a:prstGeom>
          <a:solidFill>
            <a:srgbClr val="FFFFFF">
              <a:alpha val="0"/>
            </a:srgbClr>
          </a:solidFill>
          <a:ln w="1016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87552" y="3017520"/>
            <a:ext cx="4846320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176" b="1" dirty="0">
                <a:solidFill>
                  <a:srgbClr val="1E5AA8"/>
                </a:solidFill>
              </a:rPr>
              <a:t>• </a:t>
            </a:r>
            <a:r>
              <a:rPr lang="en-US" sz="1176" dirty="0">
                <a:solidFill>
                  <a:srgbClr val="0B1F3A"/>
                </a:solidFill>
              </a:rPr>
              <a:t>DEM 地形高程 GeoTIFF：1 个
</a:t>
            </a:r>
            <a:r>
              <a:rPr lang="en-US" sz="1176" b="1" dirty="0">
                <a:solidFill>
                  <a:srgbClr val="1E5AA8"/>
                </a:solidFill>
              </a:rPr>
              <a:t>• </a:t>
            </a:r>
            <a:r>
              <a:rPr lang="en-US" sz="1176" dirty="0">
                <a:solidFill>
                  <a:srgbClr val="0B1F3A"/>
                </a:solidFill>
              </a:rPr>
              <a:t>地物/土地覆盖 GeoTIFF：1 个
</a:t>
            </a:r>
            <a:r>
              <a:rPr lang="en-US" sz="1176" b="1" dirty="0">
                <a:solidFill>
                  <a:srgbClr val="1E5AA8"/>
                </a:solidFill>
              </a:rPr>
              <a:t>• </a:t>
            </a:r>
            <a:r>
              <a:rPr lang="en-US" sz="1176" dirty="0">
                <a:solidFill>
                  <a:srgbClr val="0B1F3A"/>
                </a:solidFill>
              </a:rPr>
              <a:t>道路 Shapefile：多套，含太行区域裁剪数据
</a:t>
            </a:r>
            <a:r>
              <a:rPr lang="en-US" sz="1176" b="1" dirty="0">
                <a:solidFill>
                  <a:srgbClr val="1E5AA8"/>
                </a:solidFill>
              </a:rPr>
              <a:t>• </a:t>
            </a:r>
            <a:r>
              <a:rPr lang="en-US" sz="1176" dirty="0">
                <a:solidFill>
                  <a:srgbClr val="0B1F3A"/>
                </a:solidFill>
              </a:rPr>
              <a:t>设备/天线参数 CSV：2 个
</a:t>
            </a:r>
            <a:r>
              <a:rPr lang="en-US" sz="1176" b="1" dirty="0">
                <a:solidFill>
                  <a:srgbClr val="1E5AA8"/>
                </a:solidFill>
              </a:rPr>
              <a:t>• </a:t>
            </a:r>
            <a:r>
              <a:rPr lang="en-US" sz="1176" dirty="0">
                <a:solidFill>
                  <a:srgbClr val="0B1F3A"/>
                </a:solidFill>
              </a:rPr>
              <a:t>设备说明书、维修资料 PDF：41 份
</a:t>
            </a:r>
            <a:r>
              <a:rPr lang="en-US" sz="1176" b="1" dirty="0">
                <a:solidFill>
                  <a:srgbClr val="1E5AA8"/>
                </a:solidFill>
              </a:rPr>
              <a:t>• </a:t>
            </a:r>
            <a:r>
              <a:rPr lang="en-US" sz="1176" dirty="0">
                <a:solidFill>
                  <a:srgbClr val="0B1F3A"/>
                </a:solidFill>
              </a:rPr>
              <a:t>原始故障案例 CSV：240 条</a:t>
            </a:r>
            <a:endParaRPr lang="en-US" sz="1176" dirty="0"/>
          </a:p>
        </p:txBody>
      </p:sp>
      <p:sp>
        <p:nvSpPr>
          <p:cNvPr id="19" name="Shape 17"/>
          <p:cNvSpPr/>
          <p:nvPr/>
        </p:nvSpPr>
        <p:spPr>
          <a:xfrm>
            <a:off x="6473952" y="1847088"/>
            <a:ext cx="4754880" cy="3108960"/>
          </a:xfrm>
          <a:prstGeom prst="roundRect">
            <a:avLst>
              <a:gd name="adj" fmla="val 1176"/>
            </a:avLst>
          </a:prstGeom>
          <a:solidFill>
            <a:srgbClr val="FFFFFF">
              <a:alpha val="0"/>
            </a:srgbClr>
          </a:solidFill>
          <a:ln w="1016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812280" y="23317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96" b="1" dirty="0">
                <a:solidFill>
                  <a:srgbClr val="0B1F3A"/>
                </a:solidFill>
              </a:rPr>
              <a:t>114.0465E  —  115.8534E</a:t>
            </a:r>
            <a:endParaRPr lang="en-US" sz="1596" dirty="0"/>
          </a:p>
        </p:txBody>
      </p:sp>
      <p:sp>
        <p:nvSpPr>
          <p:cNvPr id="21" name="Text 19"/>
          <p:cNvSpPr/>
          <p:nvPr/>
        </p:nvSpPr>
        <p:spPr>
          <a:xfrm>
            <a:off x="6812280" y="27889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96" b="1" dirty="0">
                <a:solidFill>
                  <a:srgbClr val="0B1F3A"/>
                </a:solidFill>
              </a:rPr>
              <a:t>36.5813N  —  38.0188N</a:t>
            </a:r>
            <a:endParaRPr lang="en-US" sz="1596" dirty="0"/>
          </a:p>
        </p:txBody>
      </p:sp>
      <p:sp>
        <p:nvSpPr>
          <p:cNvPr id="22" name="Shape 20"/>
          <p:cNvSpPr/>
          <p:nvPr/>
        </p:nvSpPr>
        <p:spPr>
          <a:xfrm>
            <a:off x="7543800" y="3429000"/>
            <a:ext cx="2606040" cy="804672"/>
          </a:xfrm>
          <a:prstGeom prst="rect">
            <a:avLst/>
          </a:prstGeom>
          <a:solidFill>
            <a:srgbClr val="EEF3F8"/>
          </a:solidFill>
          <a:ln w="1524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818120" y="36118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68" b="1" dirty="0">
                <a:solidFill>
                  <a:srgbClr val="1E5AA8"/>
                </a:solidFill>
              </a:rPr>
              <a:t>覆盖范围大于</a:t>
            </a:r>
            <a:endParaRPr lang="en-US" sz="1368" dirty="0"/>
          </a:p>
          <a:p>
            <a:pPr marL="0" indent="0" algn="ctr">
              <a:buNone/>
            </a:pPr>
            <a:r>
              <a:rPr lang="en-US" sz="1368" b="1" dirty="0">
                <a:solidFill>
                  <a:srgbClr val="1E5AA8"/>
                </a:solidFill>
              </a:rPr>
              <a:t>120 km × 120 km</a:t>
            </a:r>
            <a:endParaRPr lang="en-US" sz="1368" dirty="0"/>
          </a:p>
        </p:txBody>
      </p:sp>
      <p:sp>
        <p:nvSpPr>
          <p:cNvPr id="24" name="Text 22"/>
          <p:cNvSpPr/>
          <p:nvPr/>
        </p:nvSpPr>
        <p:spPr>
          <a:xfrm>
            <a:off x="6812280" y="4526280"/>
            <a:ext cx="38404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11" dirty="0">
                <a:solidFill>
                  <a:srgbClr val="687385"/>
                </a:solidFill>
              </a:rPr>
              <a:t>满足当前验收口径。</a:t>
            </a:r>
            <a:endParaRPr lang="en-US" sz="1311" dirty="0"/>
          </a:p>
        </p:txBody>
      </p:sp>
    </p:spTree>
    <p:extLst>
      <p:ext uri="{BB962C8B-B14F-4D97-AF65-F5344CB8AC3E}">
        <p14:creationId xmlns:p14="http://schemas.microsoft.com/office/powerpoint/2010/main" val="791526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12064" y="3840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44" b="1" dirty="0">
                <a:solidFill>
                  <a:srgbClr val="1E5AA8"/>
                </a:solidFill>
              </a:rPr>
              <a:t>05</a:t>
            </a:r>
            <a:endParaRPr lang="en-US" sz="1944" dirty="0"/>
          </a:p>
        </p:txBody>
      </p:sp>
      <p:sp>
        <p:nvSpPr>
          <p:cNvPr id="5" name="Text 3"/>
          <p:cNvSpPr/>
          <p:nvPr/>
        </p:nvSpPr>
        <p:spPr>
          <a:xfrm>
            <a:off x="1078992" y="34747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92" b="1" dirty="0">
                <a:solidFill>
                  <a:srgbClr val="0B1F3A"/>
                </a:solidFill>
              </a:rPr>
              <a:t>数据质量验证</a:t>
            </a:r>
            <a:endParaRPr lang="en-US" sz="2592" dirty="0"/>
          </a:p>
        </p:txBody>
      </p:sp>
      <p:sp>
        <p:nvSpPr>
          <p:cNvPr id="6" name="Text 4"/>
          <p:cNvSpPr/>
          <p:nvPr/>
        </p:nvSpPr>
        <p:spPr>
          <a:xfrm>
            <a:off x="1097280" y="78638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6" dirty="0">
                <a:solidFill>
                  <a:srgbClr val="687385"/>
                </a:solidFill>
              </a:rPr>
              <a:t>数据校验脚本已建立，当前 0 Error / 0 Warning</a:t>
            </a:r>
            <a:endParaRPr lang="en-US" sz="1176" dirty="0"/>
          </a:p>
        </p:txBody>
      </p:sp>
      <p:sp>
        <p:nvSpPr>
          <p:cNvPr id="7" name="Shape 5"/>
          <p:cNvSpPr/>
          <p:nvPr/>
        </p:nvSpPr>
        <p:spPr>
          <a:xfrm>
            <a:off x="512064" y="1078992"/>
            <a:ext cx="1115568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12064" y="6419088"/>
            <a:ext cx="11155680" cy="0"/>
          </a:xfrm>
          <a:prstGeom prst="line">
            <a:avLst/>
          </a:prstGeom>
          <a:noFill/>
          <a:ln w="889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12064" y="6519672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A6"/>
                </a:solidFill>
              </a:rPr>
              <a:t>短波/超短波智能规划系统 · 项目进度汇报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128248" y="651052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5A6"/>
                </a:solidFill>
              </a:rPr>
              <a:t>06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135331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5" b="1" dirty="0">
                <a:solidFill>
                  <a:srgbClr val="1E5AA8"/>
                </a:solidFill>
              </a:rPr>
              <a:t>验证结果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713232" y="1664208"/>
            <a:ext cx="448056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760720" y="13533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5" b="1" dirty="0">
                <a:solidFill>
                  <a:srgbClr val="1E5AA8"/>
                </a:solidFill>
              </a:rPr>
              <a:t>校验范围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5760720" y="1664208"/>
            <a:ext cx="548640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749808" y="1874520"/>
            <a:ext cx="4343400" cy="1234440"/>
          </a:xfrm>
          <a:prstGeom prst="roundRect">
            <a:avLst>
              <a:gd name="adj" fmla="val 2963"/>
            </a:avLst>
          </a:prstGeom>
          <a:solidFill>
            <a:srgbClr val="FFFFFF">
              <a:alpha val="0"/>
            </a:srgbClr>
          </a:solidFill>
          <a:ln w="1016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234440" y="214884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76" b="1" dirty="0">
                <a:solidFill>
                  <a:srgbClr val="2E7D5B"/>
                </a:solidFill>
              </a:rPr>
              <a:t>0</a:t>
            </a:r>
            <a:endParaRPr lang="en-US" sz="2376" dirty="0"/>
          </a:p>
        </p:txBody>
      </p:sp>
      <p:sp>
        <p:nvSpPr>
          <p:cNvPr id="17" name="Text 15"/>
          <p:cNvSpPr/>
          <p:nvPr/>
        </p:nvSpPr>
        <p:spPr>
          <a:xfrm>
            <a:off x="1234440" y="25328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8" dirty="0">
                <a:solidFill>
                  <a:srgbClr val="687385"/>
                </a:solidFill>
              </a:rPr>
              <a:t>ERROR</a:t>
            </a:r>
            <a:endParaRPr lang="en-US" sz="1008" dirty="0"/>
          </a:p>
        </p:txBody>
      </p:sp>
      <p:sp>
        <p:nvSpPr>
          <p:cNvPr id="18" name="Text 16"/>
          <p:cNvSpPr/>
          <p:nvPr/>
        </p:nvSpPr>
        <p:spPr>
          <a:xfrm>
            <a:off x="3063240" y="214884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76" b="1" dirty="0">
                <a:solidFill>
                  <a:srgbClr val="2E7D5B"/>
                </a:solidFill>
              </a:rPr>
              <a:t>0</a:t>
            </a:r>
            <a:endParaRPr lang="en-US" sz="2376" dirty="0"/>
          </a:p>
        </p:txBody>
      </p:sp>
      <p:sp>
        <p:nvSpPr>
          <p:cNvPr id="19" name="Text 17"/>
          <p:cNvSpPr/>
          <p:nvPr/>
        </p:nvSpPr>
        <p:spPr>
          <a:xfrm>
            <a:off x="3063240" y="25328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8" dirty="0">
                <a:solidFill>
                  <a:srgbClr val="687385"/>
                </a:solidFill>
              </a:rPr>
              <a:t>WARNING</a:t>
            </a:r>
            <a:endParaRPr lang="en-US" sz="1008" dirty="0"/>
          </a:p>
        </p:txBody>
      </p:sp>
      <p:sp>
        <p:nvSpPr>
          <p:cNvPr id="20" name="Shape 18"/>
          <p:cNvSpPr/>
          <p:nvPr/>
        </p:nvSpPr>
        <p:spPr>
          <a:xfrm>
            <a:off x="749808" y="3703320"/>
            <a:ext cx="4343400" cy="1417320"/>
          </a:xfrm>
          <a:prstGeom prst="roundRect">
            <a:avLst>
              <a:gd name="adj" fmla="val 2581"/>
            </a:avLst>
          </a:prstGeom>
          <a:solidFill>
            <a:srgbClr val="EEF3F8">
              <a:alpha val="0"/>
            </a:srgbClr>
          </a:solidFill>
          <a:ln w="1016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987552" y="400507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68" b="1" dirty="0">
                <a:solidFill>
                  <a:srgbClr val="1E5AA8"/>
                </a:solidFill>
              </a:rPr>
              <a:t>scripts/validate_data.py</a:t>
            </a:r>
            <a:endParaRPr lang="en-US" sz="1368" dirty="0"/>
          </a:p>
        </p:txBody>
      </p:sp>
      <p:sp>
        <p:nvSpPr>
          <p:cNvPr id="22" name="Shape 20"/>
          <p:cNvSpPr/>
          <p:nvPr/>
        </p:nvSpPr>
        <p:spPr>
          <a:xfrm>
            <a:off x="5788152" y="1874520"/>
            <a:ext cx="5303520" cy="3246120"/>
          </a:xfrm>
          <a:prstGeom prst="roundRect">
            <a:avLst>
              <a:gd name="adj" fmla="val 1127"/>
            </a:avLst>
          </a:prstGeom>
          <a:solidFill>
            <a:srgbClr val="FFFFFF">
              <a:alpha val="0"/>
            </a:srgbClr>
          </a:solidFill>
          <a:ln w="1016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080760" y="2176272"/>
            <a:ext cx="475488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E5AA8"/>
                </a:solidFill>
              </a:rPr>
              <a:t>• </a:t>
            </a:r>
            <a:r>
              <a:rPr lang="en-US" sz="1200" dirty="0">
                <a:solidFill>
                  <a:srgbClr val="0B1F3A"/>
                </a:solidFill>
              </a:rPr>
              <a:t>节点、设备、链路、任务、频率、故障案例引用完整性
</a:t>
            </a:r>
            <a:r>
              <a:rPr lang="en-US" sz="1200" b="1" dirty="0">
                <a:solidFill>
                  <a:srgbClr val="1E5AA8"/>
                </a:solidFill>
              </a:rPr>
              <a:t>• </a:t>
            </a:r>
            <a:r>
              <a:rPr lang="en-US" sz="1200" dirty="0">
                <a:solidFill>
                  <a:srgbClr val="0B1F3A"/>
                </a:solidFill>
              </a:rPr>
              <a:t>枚举值和布尔字段合法性
</a:t>
            </a:r>
            <a:r>
              <a:rPr lang="en-US" sz="1200" b="1" dirty="0">
                <a:solidFill>
                  <a:srgbClr val="1E5AA8"/>
                </a:solidFill>
              </a:rPr>
              <a:t>• </a:t>
            </a:r>
            <a:r>
              <a:rPr lang="en-US" sz="1200" dirty="0">
                <a:solidFill>
                  <a:srgbClr val="0B1F3A"/>
                </a:solidFill>
              </a:rPr>
              <a:t>经纬度、高程、链路状态等数值范围
</a:t>
            </a:r>
            <a:r>
              <a:rPr lang="en-US" sz="1200" b="1" dirty="0">
                <a:solidFill>
                  <a:srgbClr val="1E5AA8"/>
                </a:solidFill>
              </a:rPr>
              <a:t>• </a:t>
            </a:r>
            <a:r>
              <a:rPr lang="en-US" sz="1200" dirty="0">
                <a:solidFill>
                  <a:srgbClr val="0B1F3A"/>
                </a:solidFill>
              </a:rPr>
              <a:t>HF / VUHF 拓扑连通性
</a:t>
            </a:r>
            <a:r>
              <a:rPr lang="en-US" sz="1200" b="1" dirty="0">
                <a:solidFill>
                  <a:srgbClr val="1E5AA8"/>
                </a:solidFill>
              </a:rPr>
              <a:t>• </a:t>
            </a:r>
            <a:r>
              <a:rPr lang="en-US" sz="1200" dirty="0">
                <a:solidFill>
                  <a:srgbClr val="0B1F3A"/>
                </a:solidFill>
              </a:rPr>
              <a:t>必要通联需求可满足性
</a:t>
            </a:r>
            <a:r>
              <a:rPr lang="en-US" sz="1200" b="1" dirty="0">
                <a:solidFill>
                  <a:srgbClr val="1E5AA8"/>
                </a:solidFill>
              </a:rPr>
              <a:t>• </a:t>
            </a:r>
            <a:r>
              <a:rPr lang="en-US" sz="1200" dirty="0">
                <a:solidFill>
                  <a:srgbClr val="0B1F3A"/>
                </a:solidFill>
              </a:rPr>
              <a:t>故障案例与故障对象适配性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55248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12064" y="3840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44" b="1" dirty="0">
                <a:solidFill>
                  <a:srgbClr val="1E5AA8"/>
                </a:solidFill>
              </a:rPr>
              <a:t>06</a:t>
            </a:r>
            <a:endParaRPr lang="en-US" sz="1944" dirty="0"/>
          </a:p>
        </p:txBody>
      </p:sp>
      <p:sp>
        <p:nvSpPr>
          <p:cNvPr id="5" name="Text 3"/>
          <p:cNvSpPr/>
          <p:nvPr/>
        </p:nvSpPr>
        <p:spPr>
          <a:xfrm>
            <a:off x="1078992" y="34747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92" b="1" dirty="0">
                <a:solidFill>
                  <a:srgbClr val="0B1F3A"/>
                </a:solidFill>
              </a:rPr>
              <a:t>接口与设计文档</a:t>
            </a:r>
            <a:endParaRPr lang="en-US" sz="2592" dirty="0"/>
          </a:p>
        </p:txBody>
      </p:sp>
      <p:sp>
        <p:nvSpPr>
          <p:cNvPr id="6" name="Text 4"/>
          <p:cNvSpPr/>
          <p:nvPr/>
        </p:nvSpPr>
        <p:spPr>
          <a:xfrm>
            <a:off x="1097280" y="78638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6" dirty="0">
                <a:solidFill>
                  <a:srgbClr val="687385"/>
                </a:solidFill>
              </a:rPr>
              <a:t>算法开发所需设计文档与样例已补充</a:t>
            </a:r>
            <a:endParaRPr lang="en-US" sz="1176" dirty="0"/>
          </a:p>
        </p:txBody>
      </p:sp>
      <p:sp>
        <p:nvSpPr>
          <p:cNvPr id="7" name="Shape 5"/>
          <p:cNvSpPr/>
          <p:nvPr/>
        </p:nvSpPr>
        <p:spPr>
          <a:xfrm>
            <a:off x="512064" y="1078992"/>
            <a:ext cx="1115568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12064" y="6419088"/>
            <a:ext cx="11155680" cy="0"/>
          </a:xfrm>
          <a:prstGeom prst="line">
            <a:avLst/>
          </a:prstGeom>
          <a:noFill/>
          <a:ln w="889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12064" y="6519672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A6"/>
                </a:solidFill>
              </a:rPr>
              <a:t>短波/超短波智能规划系统 · 项目进度汇报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128248" y="651052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5A6"/>
                </a:solidFill>
              </a:rPr>
              <a:t>07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135331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5" b="1" dirty="0">
                <a:solidFill>
                  <a:srgbClr val="1E5AA8"/>
                </a:solidFill>
              </a:rPr>
              <a:t>设计文档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713232" y="1664208"/>
            <a:ext cx="530352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46520" y="135331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5" b="1" dirty="0">
                <a:solidFill>
                  <a:srgbClr val="1E5AA8"/>
                </a:solidFill>
              </a:rPr>
              <a:t>接口样例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6446520" y="1664208"/>
            <a:ext cx="502920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749808" y="1847088"/>
            <a:ext cx="2743200" cy="411480"/>
          </a:xfrm>
          <a:prstGeom prst="rect">
            <a:avLst/>
          </a:prstGeom>
          <a:solidFill>
            <a:srgbClr val="EEF3F8"/>
          </a:solidFill>
          <a:ln w="635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04672" y="1933956"/>
            <a:ext cx="2633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008" b="1" dirty="0">
                <a:solidFill>
                  <a:srgbClr val="0B1F3A"/>
                </a:solidFill>
              </a:rPr>
              <a:t>文件</a:t>
            </a:r>
            <a:endParaRPr lang="en-US" sz="1008" dirty="0"/>
          </a:p>
        </p:txBody>
      </p:sp>
      <p:sp>
        <p:nvSpPr>
          <p:cNvPr id="17" name="Shape 15"/>
          <p:cNvSpPr/>
          <p:nvPr/>
        </p:nvSpPr>
        <p:spPr>
          <a:xfrm>
            <a:off x="3493008" y="1847088"/>
            <a:ext cx="2651760" cy="411480"/>
          </a:xfrm>
          <a:prstGeom prst="rect">
            <a:avLst/>
          </a:prstGeom>
          <a:solidFill>
            <a:srgbClr val="EEF3F8"/>
          </a:solidFill>
          <a:ln w="635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3547872" y="1933956"/>
            <a:ext cx="2542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008" b="1" dirty="0">
                <a:solidFill>
                  <a:srgbClr val="0B1F3A"/>
                </a:solidFill>
              </a:rPr>
              <a:t>说明</a:t>
            </a:r>
            <a:endParaRPr lang="en-US" sz="1008" dirty="0"/>
          </a:p>
        </p:txBody>
      </p:sp>
      <p:sp>
        <p:nvSpPr>
          <p:cNvPr id="19" name="Shape 17"/>
          <p:cNvSpPr/>
          <p:nvPr/>
        </p:nvSpPr>
        <p:spPr>
          <a:xfrm>
            <a:off x="749808" y="2258568"/>
            <a:ext cx="2743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04672" y="2345436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87385"/>
                </a:solidFill>
              </a:rPr>
              <a:t>01_数据字典.md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93008" y="2258568"/>
            <a:ext cx="26517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3547872" y="2345435"/>
            <a:ext cx="2542032" cy="3108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87385"/>
                </a:solidFill>
              </a:rPr>
              <a:t>字段与数据解释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9808" y="2670048"/>
            <a:ext cx="2743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04672" y="2756916"/>
            <a:ext cx="2633472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87385"/>
                </a:solidFill>
              </a:rPr>
              <a:t>02_数据采集任务单.md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93008" y="2670048"/>
            <a:ext cx="26517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547872" y="2756916"/>
            <a:ext cx="2542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87385"/>
                </a:solidFill>
              </a:rPr>
              <a:t>数据来源与收集要求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9808" y="3081528"/>
            <a:ext cx="2743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04672" y="3168395"/>
            <a:ext cx="2633472" cy="3200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87385"/>
                </a:solidFill>
              </a:rPr>
              <a:t>03_接口文档.md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93008" y="3081528"/>
            <a:ext cx="26517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3547872" y="3168396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87385"/>
                </a:solidFill>
              </a:rPr>
              <a:t>前后端字段约定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49808" y="3493008"/>
            <a:ext cx="2743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04672" y="3579876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87385"/>
                </a:solidFill>
              </a:rPr>
              <a:t>04_模块接口关系说明.md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93008" y="3493008"/>
            <a:ext cx="26517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3547872" y="3579876"/>
            <a:ext cx="2542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87385"/>
                </a:solidFill>
              </a:rPr>
              <a:t>模块间数据流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9808" y="3904488"/>
            <a:ext cx="2743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04672" y="3991355"/>
            <a:ext cx="2633472" cy="352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87385"/>
                </a:solidFill>
              </a:rPr>
              <a:t>05_算法设计总览.md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93008" y="3904488"/>
            <a:ext cx="26517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3547872" y="3991356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87385"/>
                </a:solidFill>
              </a:rPr>
              <a:t>算法模块边界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73952" y="1847088"/>
            <a:ext cx="4754880" cy="676656"/>
          </a:xfrm>
          <a:prstGeom prst="roundRect">
            <a:avLst>
              <a:gd name="adj" fmla="val 5405"/>
            </a:avLst>
          </a:prstGeom>
          <a:solidFill>
            <a:srgbClr val="FFFFFF">
              <a:alpha val="0"/>
            </a:srgbClr>
          </a:solidFill>
          <a:ln w="1016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6720840" y="1865375"/>
            <a:ext cx="4069080" cy="3383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873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docs/api/sample_requests/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720840" y="2203704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873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docs/api/sample_responses/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73952" y="2907792"/>
            <a:ext cx="4754880" cy="2331720"/>
          </a:xfrm>
          <a:prstGeom prst="roundRect">
            <a:avLst>
              <a:gd name="adj" fmla="val 1569"/>
            </a:avLst>
          </a:prstGeom>
          <a:solidFill>
            <a:srgbClr val="FFFFFF">
              <a:alpha val="0"/>
            </a:srgbClr>
          </a:solidFill>
          <a:ln w="1016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6766560" y="3246120"/>
            <a:ext cx="420624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368" b="1" dirty="0">
                <a:solidFill>
                  <a:srgbClr val="1E5AA8"/>
                </a:solidFill>
              </a:rPr>
              <a:t>• </a:t>
            </a:r>
            <a:r>
              <a:rPr lang="en-US" sz="1368" dirty="0">
                <a:solidFill>
                  <a:srgbClr val="0B1F3A"/>
                </a:solidFill>
              </a:rPr>
              <a:t>候选部署点筛选
</a:t>
            </a:r>
            <a:r>
              <a:rPr lang="en-US" sz="1368" b="1" dirty="0">
                <a:solidFill>
                  <a:srgbClr val="1E5AA8"/>
                </a:solidFill>
              </a:rPr>
              <a:t>• </a:t>
            </a:r>
            <a:r>
              <a:rPr lang="en-US" sz="1368" dirty="0">
                <a:solidFill>
                  <a:srgbClr val="0B1F3A"/>
                </a:solidFill>
              </a:rPr>
              <a:t>路由规划
</a:t>
            </a:r>
            <a:r>
              <a:rPr lang="en-US" sz="1368" b="1" dirty="0">
                <a:solidFill>
                  <a:srgbClr val="1E5AA8"/>
                </a:solidFill>
              </a:rPr>
              <a:t>• </a:t>
            </a:r>
            <a:r>
              <a:rPr lang="en-US" sz="1368" dirty="0">
                <a:solidFill>
                  <a:srgbClr val="0B1F3A"/>
                </a:solidFill>
              </a:rPr>
              <a:t>频率分配
</a:t>
            </a:r>
            <a:r>
              <a:rPr lang="en-US" sz="1368" b="1" dirty="0">
                <a:solidFill>
                  <a:srgbClr val="1E5AA8"/>
                </a:solidFill>
              </a:rPr>
              <a:t>• </a:t>
            </a:r>
            <a:r>
              <a:rPr lang="en-US" sz="1368" dirty="0">
                <a:solidFill>
                  <a:srgbClr val="0B1F3A"/>
                </a:solidFill>
              </a:rPr>
              <a:t>故障诊断</a:t>
            </a:r>
            <a:endParaRPr lang="en-US" sz="1368" dirty="0"/>
          </a:p>
        </p:txBody>
      </p:sp>
      <p:sp>
        <p:nvSpPr>
          <p:cNvPr id="44" name="Shape 42"/>
          <p:cNvSpPr/>
          <p:nvPr/>
        </p:nvSpPr>
        <p:spPr>
          <a:xfrm>
            <a:off x="6473952" y="5559552"/>
            <a:ext cx="4754880" cy="411480"/>
          </a:xfrm>
          <a:prstGeom prst="roundRect">
            <a:avLst>
              <a:gd name="adj" fmla="val 8889"/>
            </a:avLst>
          </a:prstGeom>
          <a:solidFill>
            <a:srgbClr val="EEF3F8">
              <a:alpha val="0"/>
            </a:srgbClr>
          </a:solidFill>
          <a:ln w="1016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6473952" y="5568689"/>
            <a:ext cx="4453128" cy="41147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2" dirty="0">
                <a:solidFill>
                  <a:srgbClr val="0B1F3A"/>
                </a:solidFill>
              </a:rPr>
              <a:t>目标：确保外包前端可按统一 JSON 字段联调。</a:t>
            </a:r>
            <a:endParaRPr lang="en-US" sz="1152" dirty="0"/>
          </a:p>
        </p:txBody>
      </p:sp>
    </p:spTree>
    <p:extLst>
      <p:ext uri="{BB962C8B-B14F-4D97-AF65-F5344CB8AC3E}">
        <p14:creationId xmlns:p14="http://schemas.microsoft.com/office/powerpoint/2010/main" val="749830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12064" y="3840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44" b="1" dirty="0">
                <a:solidFill>
                  <a:srgbClr val="1E5AA8"/>
                </a:solidFill>
              </a:rPr>
              <a:t>07</a:t>
            </a:r>
            <a:endParaRPr lang="en-US" sz="1944" dirty="0"/>
          </a:p>
        </p:txBody>
      </p:sp>
      <p:sp>
        <p:nvSpPr>
          <p:cNvPr id="5" name="Text 3"/>
          <p:cNvSpPr/>
          <p:nvPr/>
        </p:nvSpPr>
        <p:spPr>
          <a:xfrm>
            <a:off x="1078992" y="34747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92" b="1" dirty="0">
                <a:solidFill>
                  <a:srgbClr val="0B1F3A"/>
                </a:solidFill>
              </a:rPr>
              <a:t>算法服务骨架</a:t>
            </a:r>
            <a:endParaRPr lang="en-US" sz="2592" dirty="0"/>
          </a:p>
        </p:txBody>
      </p:sp>
      <p:sp>
        <p:nvSpPr>
          <p:cNvPr id="6" name="Text 4"/>
          <p:cNvSpPr/>
          <p:nvPr/>
        </p:nvSpPr>
        <p:spPr>
          <a:xfrm>
            <a:off x="1097280" y="78638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6" dirty="0">
                <a:solidFill>
                  <a:srgbClr val="687385"/>
                </a:solidFill>
              </a:rPr>
              <a:t>候选部署点筛选服务已经启动</a:t>
            </a:r>
            <a:endParaRPr lang="en-US" sz="1176" dirty="0"/>
          </a:p>
        </p:txBody>
      </p:sp>
      <p:sp>
        <p:nvSpPr>
          <p:cNvPr id="7" name="Shape 5"/>
          <p:cNvSpPr/>
          <p:nvPr/>
        </p:nvSpPr>
        <p:spPr>
          <a:xfrm>
            <a:off x="512064" y="1078992"/>
            <a:ext cx="1115568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12064" y="6419088"/>
            <a:ext cx="11155680" cy="0"/>
          </a:xfrm>
          <a:prstGeom prst="line">
            <a:avLst/>
          </a:prstGeom>
          <a:noFill/>
          <a:ln w="889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12064" y="6519672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A6"/>
                </a:solidFill>
              </a:rPr>
              <a:t>短波/超短波智能规划系统 · 项目进度汇报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128248" y="651052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5A6"/>
                </a:solidFill>
              </a:rPr>
              <a:t>08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135331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5" b="1" dirty="0">
                <a:solidFill>
                  <a:srgbClr val="1E5AA8"/>
                </a:solidFill>
              </a:rPr>
              <a:t>服务目录与接口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713232" y="1664208"/>
            <a:ext cx="530352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46520" y="135331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5" b="1" dirty="0">
                <a:solidFill>
                  <a:srgbClr val="1E5AA8"/>
                </a:solidFill>
              </a:rPr>
              <a:t>候选部署点筛选能力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6446520" y="1664208"/>
            <a:ext cx="502920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749808" y="1847088"/>
            <a:ext cx="5120640" cy="2971800"/>
          </a:xfrm>
          <a:prstGeom prst="roundRect">
            <a:avLst>
              <a:gd name="adj" fmla="val 1231"/>
            </a:avLst>
          </a:prstGeom>
          <a:solidFill>
            <a:srgbClr val="FFFFFF">
              <a:alpha val="0"/>
            </a:srgbClr>
          </a:solidFill>
          <a:ln w="1016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987552" y="21488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5" b="1" dirty="0">
                <a:solidFill>
                  <a:srgbClr val="1E5AA8"/>
                </a:solidFill>
              </a:rPr>
              <a:t>algorithm-service/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1005840" y="2788920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873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/health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318211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873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/api/v1/plan/candidate-sites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05840" y="3822192"/>
            <a:ext cx="2194560" cy="502920"/>
          </a:xfrm>
          <a:prstGeom prst="roundRect">
            <a:avLst>
              <a:gd name="adj" fmla="val 7273"/>
            </a:avLst>
          </a:prstGeom>
          <a:solidFill>
            <a:srgbClr val="EEF3F8">
              <a:alpha val="0"/>
            </a:srgbClr>
          </a:solidFill>
          <a:ln w="1016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188720" y="3986784"/>
            <a:ext cx="18288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87385"/>
                </a:solidFill>
              </a:rPr>
              <a:t>python -m pytest tests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473952" y="1847088"/>
            <a:ext cx="4937760" cy="2971800"/>
          </a:xfrm>
          <a:prstGeom prst="roundRect">
            <a:avLst>
              <a:gd name="adj" fmla="val 1231"/>
            </a:avLst>
          </a:prstGeom>
          <a:solidFill>
            <a:srgbClr val="FFFFFF">
              <a:alpha val="0"/>
            </a:srgbClr>
          </a:solidFill>
          <a:ln w="1016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748272" y="2194560"/>
            <a:ext cx="443484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96" b="1" dirty="0">
                <a:solidFill>
                  <a:srgbClr val="1E5AA8"/>
                </a:solidFill>
              </a:rPr>
              <a:t>• </a:t>
            </a:r>
            <a:r>
              <a:rPr lang="en-US" sz="1296" dirty="0">
                <a:solidFill>
                  <a:srgbClr val="0B1F3A"/>
                </a:solidFill>
              </a:rPr>
              <a:t>任务 ID 校验
</a:t>
            </a:r>
            <a:r>
              <a:rPr lang="en-US" sz="1296" b="1" dirty="0">
                <a:solidFill>
                  <a:srgbClr val="1E5AA8"/>
                </a:solidFill>
              </a:rPr>
              <a:t>• </a:t>
            </a:r>
            <a:r>
              <a:rPr lang="en-US" sz="1296" dirty="0">
                <a:solidFill>
                  <a:srgbClr val="0B1F3A"/>
                </a:solidFill>
              </a:rPr>
              <a:t>规划区域 bbox 筛选
</a:t>
            </a:r>
            <a:r>
              <a:rPr lang="en-US" sz="1296" b="1" dirty="0">
                <a:solidFill>
                  <a:srgbClr val="1E5AA8"/>
                </a:solidFill>
              </a:rPr>
              <a:t>• </a:t>
            </a:r>
            <a:r>
              <a:rPr lang="en-US" sz="1296" dirty="0">
                <a:solidFill>
                  <a:srgbClr val="0B1F3A"/>
                </a:solidFill>
              </a:rPr>
              <a:t>坡度、高程、地物类型约束
</a:t>
            </a:r>
            <a:r>
              <a:rPr lang="en-US" sz="1296" b="1" dirty="0">
                <a:solidFill>
                  <a:srgbClr val="1E5AA8"/>
                </a:solidFill>
              </a:rPr>
              <a:t>• </a:t>
            </a:r>
            <a:r>
              <a:rPr lang="en-US" sz="1296" dirty="0">
                <a:solidFill>
                  <a:srgbClr val="0B1F3A"/>
                </a:solidFill>
              </a:rPr>
              <a:t>道路距离与最小站间距约束
</a:t>
            </a:r>
            <a:r>
              <a:rPr lang="en-US" sz="1296" b="1" dirty="0">
                <a:solidFill>
                  <a:srgbClr val="1E5AA8"/>
                </a:solidFill>
              </a:rPr>
              <a:t>• </a:t>
            </a:r>
            <a:r>
              <a:rPr lang="en-US" sz="1296" dirty="0">
                <a:solidFill>
                  <a:srgbClr val="0B1F3A"/>
                </a:solidFill>
              </a:rPr>
              <a:t>候选点不足时返回放宽建议</a:t>
            </a:r>
            <a:endParaRPr lang="en-US" sz="1296" dirty="0"/>
          </a:p>
        </p:txBody>
      </p:sp>
      <p:sp>
        <p:nvSpPr>
          <p:cNvPr id="24" name="Shape 22"/>
          <p:cNvSpPr/>
          <p:nvPr/>
        </p:nvSpPr>
        <p:spPr>
          <a:xfrm>
            <a:off x="6473952" y="5230368"/>
            <a:ext cx="4937760" cy="502920"/>
          </a:xfrm>
          <a:prstGeom prst="roundRect">
            <a:avLst>
              <a:gd name="adj" fmla="val 7273"/>
            </a:avLst>
          </a:prstGeom>
          <a:solidFill>
            <a:srgbClr val="EEF3F8">
              <a:alpha val="0"/>
            </a:srgbClr>
          </a:solidFill>
          <a:ln w="1016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473951" y="5230368"/>
            <a:ext cx="4840875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B1F3A"/>
                </a:solidFill>
              </a:rPr>
              <a:t>第 2 周可直接推进候选点筛选与电台部署规划。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2994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12064" y="3840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44" b="1" dirty="0">
                <a:solidFill>
                  <a:srgbClr val="1E5AA8"/>
                </a:solidFill>
              </a:rPr>
              <a:t>08</a:t>
            </a:r>
            <a:endParaRPr lang="en-US" sz="1944" dirty="0"/>
          </a:p>
        </p:txBody>
      </p:sp>
      <p:sp>
        <p:nvSpPr>
          <p:cNvPr id="5" name="Text 3"/>
          <p:cNvSpPr/>
          <p:nvPr/>
        </p:nvSpPr>
        <p:spPr>
          <a:xfrm>
            <a:off x="1078992" y="34747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92" b="1" dirty="0">
                <a:solidFill>
                  <a:srgbClr val="0B1F3A"/>
                </a:solidFill>
              </a:rPr>
              <a:t>当前具备的算法开发条件</a:t>
            </a:r>
            <a:endParaRPr lang="en-US" sz="2592" dirty="0"/>
          </a:p>
        </p:txBody>
      </p:sp>
      <p:sp>
        <p:nvSpPr>
          <p:cNvPr id="6" name="Text 4"/>
          <p:cNvSpPr/>
          <p:nvPr/>
        </p:nvSpPr>
        <p:spPr>
          <a:xfrm>
            <a:off x="1097280" y="78638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6" dirty="0">
                <a:solidFill>
                  <a:srgbClr val="687385"/>
                </a:solidFill>
              </a:rPr>
              <a:t>输入数据与输出样例均已具备</a:t>
            </a:r>
            <a:endParaRPr lang="en-US" sz="1176" dirty="0"/>
          </a:p>
        </p:txBody>
      </p:sp>
      <p:sp>
        <p:nvSpPr>
          <p:cNvPr id="7" name="Shape 5"/>
          <p:cNvSpPr/>
          <p:nvPr/>
        </p:nvSpPr>
        <p:spPr>
          <a:xfrm>
            <a:off x="512064" y="1078992"/>
            <a:ext cx="1115568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12064" y="6419088"/>
            <a:ext cx="11155680" cy="0"/>
          </a:xfrm>
          <a:prstGeom prst="line">
            <a:avLst/>
          </a:prstGeom>
          <a:noFill/>
          <a:ln w="889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12064" y="6519672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A6"/>
                </a:solidFill>
              </a:rPr>
              <a:t>短波/超短波智能规划系统 · 项目进度汇报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128248" y="651052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5A6"/>
                </a:solidFill>
              </a:rPr>
              <a:t>09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135331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5" b="1" dirty="0">
                <a:solidFill>
                  <a:srgbClr val="1E5AA8"/>
                </a:solidFill>
              </a:rPr>
              <a:t>已具备输入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713232" y="1664208"/>
            <a:ext cx="512064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46520" y="135331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5" b="1" dirty="0">
                <a:solidFill>
                  <a:srgbClr val="1E5AA8"/>
                </a:solidFill>
              </a:rPr>
              <a:t>已具备输出样例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6446520" y="1664208"/>
            <a:ext cx="502920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749808" y="1847088"/>
            <a:ext cx="5074920" cy="3474720"/>
          </a:xfrm>
          <a:prstGeom prst="roundRect">
            <a:avLst>
              <a:gd name="adj" fmla="val 1053"/>
            </a:avLst>
          </a:prstGeom>
          <a:solidFill>
            <a:srgbClr val="FFFFFF">
              <a:alpha val="0"/>
            </a:srgbClr>
          </a:solidFill>
          <a:ln w="1016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051560" y="2148840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2E7D5B"/>
                </a:solidFill>
              </a:rPr>
              <a:t>✓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307592" y="2153412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0B1F3A"/>
                </a:solidFill>
              </a:rPr>
              <a:t>节点数据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1051560" y="250545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2E7D5B"/>
                </a:solidFill>
              </a:rPr>
              <a:t>✓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1307592" y="251002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0B1F3A"/>
                </a:solidFill>
              </a:rPr>
              <a:t>设备数据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1051560" y="286207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2E7D5B"/>
                </a:solidFill>
              </a:rPr>
              <a:t>✓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1307592" y="2866644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0B1F3A"/>
                </a:solidFill>
              </a:rPr>
              <a:t>候选部署点</a:t>
            </a:r>
            <a:endParaRPr lang="en-US" sz="1140" dirty="0"/>
          </a:p>
        </p:txBody>
      </p:sp>
      <p:sp>
        <p:nvSpPr>
          <p:cNvPr id="22" name="Text 20"/>
          <p:cNvSpPr/>
          <p:nvPr/>
        </p:nvSpPr>
        <p:spPr>
          <a:xfrm>
            <a:off x="1051560" y="3218688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2E7D5B"/>
                </a:solidFill>
              </a:rPr>
              <a:t>✓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1307592" y="3223260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0B1F3A"/>
                </a:solidFill>
              </a:rPr>
              <a:t>任务通联关系</a:t>
            </a:r>
            <a:endParaRPr lang="en-US" sz="1140" dirty="0"/>
          </a:p>
        </p:txBody>
      </p:sp>
      <p:sp>
        <p:nvSpPr>
          <p:cNvPr id="24" name="Text 22"/>
          <p:cNvSpPr/>
          <p:nvPr/>
        </p:nvSpPr>
        <p:spPr>
          <a:xfrm>
            <a:off x="1051560" y="3575304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2E7D5B"/>
                </a:solidFill>
              </a:rPr>
              <a:t>✓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1307592" y="3579876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0B1F3A"/>
                </a:solidFill>
              </a:rPr>
              <a:t>地形/地物/道路数据</a:t>
            </a:r>
            <a:endParaRPr lang="en-US" sz="1140" dirty="0"/>
          </a:p>
        </p:txBody>
      </p:sp>
      <p:sp>
        <p:nvSpPr>
          <p:cNvPr id="26" name="Text 24"/>
          <p:cNvSpPr/>
          <p:nvPr/>
        </p:nvSpPr>
        <p:spPr>
          <a:xfrm>
            <a:off x="1051560" y="3931920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2E7D5B"/>
                </a:solidFill>
              </a:rPr>
              <a:t>✓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1307592" y="3936492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0B1F3A"/>
                </a:solidFill>
              </a:rPr>
              <a:t>拓扑链路</a:t>
            </a:r>
            <a:endParaRPr lang="en-US" sz="1140" dirty="0"/>
          </a:p>
        </p:txBody>
      </p:sp>
      <p:sp>
        <p:nvSpPr>
          <p:cNvPr id="28" name="Text 26"/>
          <p:cNvSpPr/>
          <p:nvPr/>
        </p:nvSpPr>
        <p:spPr>
          <a:xfrm>
            <a:off x="1051560" y="428853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2E7D5B"/>
                </a:solidFill>
              </a:rPr>
              <a:t>✓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1307592" y="429310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0B1F3A"/>
                </a:solidFill>
              </a:rPr>
              <a:t>频率资源</a:t>
            </a:r>
            <a:endParaRPr lang="en-US" sz="1140" dirty="0"/>
          </a:p>
        </p:txBody>
      </p:sp>
      <p:sp>
        <p:nvSpPr>
          <p:cNvPr id="30" name="Text 28"/>
          <p:cNvSpPr/>
          <p:nvPr/>
        </p:nvSpPr>
        <p:spPr>
          <a:xfrm>
            <a:off x="1051560" y="464515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2E7D5B"/>
                </a:solidFill>
              </a:rPr>
              <a:t>✓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1307592" y="4649724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0B1F3A"/>
                </a:solidFill>
              </a:rPr>
              <a:t>故障规则</a:t>
            </a:r>
            <a:endParaRPr lang="en-US" sz="1140" dirty="0"/>
          </a:p>
        </p:txBody>
      </p:sp>
      <p:sp>
        <p:nvSpPr>
          <p:cNvPr id="32" name="Shape 30"/>
          <p:cNvSpPr/>
          <p:nvPr/>
        </p:nvSpPr>
        <p:spPr>
          <a:xfrm>
            <a:off x="6473952" y="1847088"/>
            <a:ext cx="4937760" cy="2103120"/>
          </a:xfrm>
          <a:prstGeom prst="roundRect">
            <a:avLst>
              <a:gd name="adj" fmla="val 1739"/>
            </a:avLst>
          </a:prstGeom>
          <a:solidFill>
            <a:srgbClr val="FFFFFF">
              <a:alpha val="0"/>
            </a:srgbClr>
          </a:solidFill>
          <a:ln w="1016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793992" y="217627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2E7D5B"/>
                </a:solidFill>
              </a:rPr>
              <a:t>✓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7050024" y="2180844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0B1F3A"/>
                </a:solidFill>
              </a:rPr>
              <a:t>候选点结果</a:t>
            </a:r>
            <a:endParaRPr lang="en-US" sz="1140" dirty="0"/>
          </a:p>
        </p:txBody>
      </p:sp>
      <p:sp>
        <p:nvSpPr>
          <p:cNvPr id="35" name="Text 33"/>
          <p:cNvSpPr/>
          <p:nvPr/>
        </p:nvSpPr>
        <p:spPr>
          <a:xfrm>
            <a:off x="6793992" y="258775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2E7D5B"/>
                </a:solidFill>
              </a:rPr>
              <a:t>✓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7050024" y="2592324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0B1F3A"/>
                </a:solidFill>
              </a:rPr>
              <a:t>主备路由结果</a:t>
            </a:r>
            <a:endParaRPr lang="en-US" sz="1140" dirty="0"/>
          </a:p>
        </p:txBody>
      </p:sp>
      <p:sp>
        <p:nvSpPr>
          <p:cNvPr id="37" name="Text 35"/>
          <p:cNvSpPr/>
          <p:nvPr/>
        </p:nvSpPr>
        <p:spPr>
          <a:xfrm>
            <a:off x="6793992" y="299923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2E7D5B"/>
                </a:solidFill>
              </a:rPr>
              <a:t>✓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7050024" y="3003804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0B1F3A"/>
                </a:solidFill>
              </a:rPr>
              <a:t>频率分配结果</a:t>
            </a:r>
            <a:endParaRPr lang="en-US" sz="1140" dirty="0"/>
          </a:p>
        </p:txBody>
      </p:sp>
      <p:sp>
        <p:nvSpPr>
          <p:cNvPr id="39" name="Text 37"/>
          <p:cNvSpPr/>
          <p:nvPr/>
        </p:nvSpPr>
        <p:spPr>
          <a:xfrm>
            <a:off x="6793992" y="34107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2E7D5B"/>
                </a:solidFill>
              </a:rPr>
              <a:t>✓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7050024" y="3415284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0B1F3A"/>
                </a:solidFill>
              </a:rPr>
              <a:t>故障诊断结果</a:t>
            </a:r>
            <a:endParaRPr lang="en-US" sz="1140" dirty="0"/>
          </a:p>
        </p:txBody>
      </p:sp>
      <p:sp>
        <p:nvSpPr>
          <p:cNvPr id="41" name="Shape 39"/>
          <p:cNvSpPr/>
          <p:nvPr/>
        </p:nvSpPr>
        <p:spPr>
          <a:xfrm>
            <a:off x="6473952" y="4572000"/>
            <a:ext cx="4937760" cy="731520"/>
          </a:xfrm>
          <a:prstGeom prst="roundRect">
            <a:avLst>
              <a:gd name="adj" fmla="val 5000"/>
            </a:avLst>
          </a:prstGeom>
          <a:solidFill>
            <a:srgbClr val="EEF3F8">
              <a:alpha val="0"/>
            </a:srgbClr>
          </a:solidFill>
          <a:ln w="1016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6446520" y="4572001"/>
            <a:ext cx="4995672" cy="7315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B1F3A"/>
                </a:solidFill>
              </a:rPr>
              <a:t>结论：可以开始第 2 周算法工作，重点推进候选部署位置筛选与电台部署规划。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32113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12064" y="3840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44" b="1" dirty="0">
                <a:solidFill>
                  <a:srgbClr val="1E5AA8"/>
                </a:solidFill>
              </a:rPr>
              <a:t>09</a:t>
            </a:r>
            <a:endParaRPr lang="en-US" sz="1944" dirty="0"/>
          </a:p>
        </p:txBody>
      </p:sp>
      <p:sp>
        <p:nvSpPr>
          <p:cNvPr id="5" name="Text 3"/>
          <p:cNvSpPr/>
          <p:nvPr/>
        </p:nvSpPr>
        <p:spPr>
          <a:xfrm>
            <a:off x="1078992" y="34747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92" b="1" dirty="0" err="1">
                <a:solidFill>
                  <a:srgbClr val="0B1F3A"/>
                </a:solidFill>
              </a:rPr>
              <a:t>接下来工作</a:t>
            </a:r>
            <a:endParaRPr lang="en-US" sz="2592" dirty="0"/>
          </a:p>
        </p:txBody>
      </p:sp>
      <p:sp>
        <p:nvSpPr>
          <p:cNvPr id="6" name="Text 4"/>
          <p:cNvSpPr/>
          <p:nvPr/>
        </p:nvSpPr>
        <p:spPr>
          <a:xfrm>
            <a:off x="1097280" y="78638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6" dirty="0">
                <a:solidFill>
                  <a:srgbClr val="687385"/>
                </a:solidFill>
              </a:rPr>
              <a:t>围绕 SR-4 无线网络规划优先推进</a:t>
            </a:r>
            <a:endParaRPr lang="en-US" sz="1176" dirty="0"/>
          </a:p>
        </p:txBody>
      </p:sp>
      <p:sp>
        <p:nvSpPr>
          <p:cNvPr id="7" name="Shape 5"/>
          <p:cNvSpPr/>
          <p:nvPr/>
        </p:nvSpPr>
        <p:spPr>
          <a:xfrm>
            <a:off x="512064" y="1078992"/>
            <a:ext cx="1115568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12064" y="6419088"/>
            <a:ext cx="11155680" cy="0"/>
          </a:xfrm>
          <a:prstGeom prst="line">
            <a:avLst/>
          </a:prstGeom>
          <a:noFill/>
          <a:ln w="889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12064" y="6519672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A6"/>
                </a:solidFill>
              </a:rPr>
              <a:t>短波/超短波智能规划系统 · 项目进度汇报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128248" y="651052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5A6"/>
                </a:solidFill>
              </a:rPr>
              <a:t>10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129844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5" b="1" dirty="0">
                <a:solidFill>
                  <a:srgbClr val="1E5AA8"/>
                </a:solidFill>
              </a:rPr>
              <a:t>下一阶段优先任务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713232" y="1609344"/>
            <a:ext cx="544068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46520" y="129844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5" b="1" dirty="0">
                <a:solidFill>
                  <a:srgbClr val="1E5AA8"/>
                </a:solidFill>
              </a:rPr>
              <a:t>汇报总结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6446520" y="1609344"/>
            <a:ext cx="502920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749808" y="1783080"/>
            <a:ext cx="5349240" cy="4480560"/>
          </a:xfrm>
          <a:prstGeom prst="roundRect">
            <a:avLst>
              <a:gd name="adj" fmla="val 816"/>
            </a:avLst>
          </a:prstGeom>
          <a:solidFill>
            <a:srgbClr val="FFFFFF">
              <a:alpha val="0"/>
            </a:srgbClr>
          </a:solidFill>
          <a:ln w="1016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987552" y="205740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E5AA8"/>
                </a:solidFill>
              </a:rPr>
              <a:t>1.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325880" y="2048256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16" dirty="0">
                <a:solidFill>
                  <a:srgbClr val="0B1F3A"/>
                </a:solidFill>
              </a:rPr>
              <a:t>完成候选部署点筛选接口的 FastAPI 实际运行环境</a:t>
            </a:r>
            <a:endParaRPr lang="en-US" sz="1116" dirty="0"/>
          </a:p>
        </p:txBody>
      </p:sp>
      <p:sp>
        <p:nvSpPr>
          <p:cNvPr id="18" name="Text 16"/>
          <p:cNvSpPr/>
          <p:nvPr/>
        </p:nvSpPr>
        <p:spPr>
          <a:xfrm>
            <a:off x="987552" y="251460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E5AA8"/>
                </a:solidFill>
              </a:rPr>
              <a:t>2.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1325880" y="2505456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16" dirty="0">
                <a:solidFill>
                  <a:srgbClr val="0B1F3A"/>
                </a:solidFill>
              </a:rPr>
              <a:t>实现移动电台数量与位置规划算法</a:t>
            </a:r>
            <a:endParaRPr lang="en-US" sz="1116" dirty="0"/>
          </a:p>
        </p:txBody>
      </p:sp>
      <p:sp>
        <p:nvSpPr>
          <p:cNvPr id="20" name="Text 18"/>
          <p:cNvSpPr/>
          <p:nvPr/>
        </p:nvSpPr>
        <p:spPr>
          <a:xfrm>
            <a:off x="987552" y="297180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E5AA8"/>
                </a:solidFill>
              </a:rPr>
              <a:t>3.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1325880" y="2962656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16" dirty="0">
                <a:solidFill>
                  <a:srgbClr val="0B1F3A"/>
                </a:solidFill>
              </a:rPr>
              <a:t>实现路由规划接口，复用 routes_v1.json 结构</a:t>
            </a:r>
            <a:endParaRPr lang="en-US" sz="1116" dirty="0"/>
          </a:p>
        </p:txBody>
      </p:sp>
      <p:sp>
        <p:nvSpPr>
          <p:cNvPr id="22" name="Text 20"/>
          <p:cNvSpPr/>
          <p:nvPr/>
        </p:nvSpPr>
        <p:spPr>
          <a:xfrm>
            <a:off x="987552" y="342900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E5AA8"/>
                </a:solidFill>
              </a:rPr>
              <a:t>4.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1325880" y="3419856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16" dirty="0">
                <a:solidFill>
                  <a:srgbClr val="0B1F3A"/>
                </a:solidFill>
              </a:rPr>
              <a:t>实现频率分配算法，基于冲突约束形成初始解</a:t>
            </a:r>
            <a:endParaRPr lang="en-US" sz="1116" dirty="0"/>
          </a:p>
        </p:txBody>
      </p:sp>
      <p:sp>
        <p:nvSpPr>
          <p:cNvPr id="24" name="Text 22"/>
          <p:cNvSpPr/>
          <p:nvPr/>
        </p:nvSpPr>
        <p:spPr>
          <a:xfrm>
            <a:off x="987552" y="388620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E5AA8"/>
                </a:solidFill>
              </a:rPr>
              <a:t>5.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1325880" y="3877056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16" dirty="0">
                <a:solidFill>
                  <a:srgbClr val="0B1F3A"/>
                </a:solidFill>
              </a:rPr>
              <a:t>实现故障规则诊断接口，输出根因和建议</a:t>
            </a:r>
            <a:endParaRPr lang="en-US" sz="1116" dirty="0"/>
          </a:p>
        </p:txBody>
      </p:sp>
      <p:sp>
        <p:nvSpPr>
          <p:cNvPr id="26" name="Text 24"/>
          <p:cNvSpPr/>
          <p:nvPr/>
        </p:nvSpPr>
        <p:spPr>
          <a:xfrm>
            <a:off x="987552" y="434340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E5AA8"/>
                </a:solidFill>
              </a:rPr>
              <a:t>6.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1325880" y="4334256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16" dirty="0">
                <a:solidFill>
                  <a:srgbClr val="0B1F3A"/>
                </a:solidFill>
              </a:rPr>
              <a:t>补覆盖结果样例与规划方案输出</a:t>
            </a:r>
            <a:endParaRPr lang="en-US" sz="1116" dirty="0"/>
          </a:p>
        </p:txBody>
      </p:sp>
      <p:sp>
        <p:nvSpPr>
          <p:cNvPr id="28" name="Text 26"/>
          <p:cNvSpPr/>
          <p:nvPr/>
        </p:nvSpPr>
        <p:spPr>
          <a:xfrm>
            <a:off x="987552" y="480060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E5AA8"/>
                </a:solidFill>
              </a:rPr>
              <a:t>7.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1325880" y="4791456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16" dirty="0">
                <a:solidFill>
                  <a:srgbClr val="0B1F3A"/>
                </a:solidFill>
              </a:rPr>
              <a:t>与前端/Java 后端确认最终 JSON 字段</a:t>
            </a:r>
            <a:endParaRPr lang="en-US" sz="1116" dirty="0"/>
          </a:p>
        </p:txBody>
      </p:sp>
      <p:sp>
        <p:nvSpPr>
          <p:cNvPr id="30" name="Shape 28"/>
          <p:cNvSpPr/>
          <p:nvPr/>
        </p:nvSpPr>
        <p:spPr>
          <a:xfrm>
            <a:off x="6473952" y="1783080"/>
            <a:ext cx="4846320" cy="4480560"/>
          </a:xfrm>
          <a:prstGeom prst="roundRect">
            <a:avLst>
              <a:gd name="adj" fmla="val 816"/>
            </a:avLst>
          </a:prstGeom>
          <a:solidFill>
            <a:srgbClr val="FFFFFF">
              <a:alpha val="0"/>
            </a:srgbClr>
          </a:solidFill>
          <a:ln w="1016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748272" y="2084832"/>
            <a:ext cx="43434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7" dirty="0">
                <a:solidFill>
                  <a:srgbClr val="0B1F3A"/>
                </a:solidFill>
              </a:rPr>
              <a:t>当前项目已经完成第 1 周数据和接口准备工作的主体内容：基础数据集、导入数据归档、数据校验脚本、接口样例、算法设计总览和候选部署点筛选服务骨架均已完成。</a:t>
            </a:r>
            <a:endParaRPr lang="en-US" sz="1277" dirty="0"/>
          </a:p>
        </p:txBody>
      </p:sp>
      <p:sp>
        <p:nvSpPr>
          <p:cNvPr id="32" name="Text 30"/>
          <p:cNvSpPr/>
          <p:nvPr/>
        </p:nvSpPr>
        <p:spPr>
          <a:xfrm>
            <a:off x="6748272" y="3383280"/>
            <a:ext cx="4379976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7" dirty="0">
                <a:solidFill>
                  <a:srgbClr val="0B1F3A"/>
                </a:solidFill>
              </a:rPr>
              <a:t>数据规模满足短波不少于 50 个节点、超短波不少于 100 个节点、地图范围不小于 120 km × 120 km 的当前验收口径。</a:t>
            </a:r>
            <a:endParaRPr lang="en-US" sz="1277" dirty="0"/>
          </a:p>
        </p:txBody>
      </p:sp>
      <p:sp>
        <p:nvSpPr>
          <p:cNvPr id="33" name="Shape 31"/>
          <p:cNvSpPr/>
          <p:nvPr/>
        </p:nvSpPr>
        <p:spPr>
          <a:xfrm>
            <a:off x="6748272" y="4800600"/>
            <a:ext cx="4160520" cy="530352"/>
          </a:xfrm>
          <a:prstGeom prst="roundRect">
            <a:avLst>
              <a:gd name="adj" fmla="val 6897"/>
            </a:avLst>
          </a:prstGeom>
          <a:solidFill>
            <a:srgbClr val="EEF3F8">
              <a:alpha val="0"/>
            </a:srgbClr>
          </a:solidFill>
          <a:ln w="1016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995160" y="49743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1E5AA8"/>
                </a:solidFill>
              </a:rPr>
              <a:t>下一步：SR-4 网络规划核心算法</a:t>
            </a:r>
            <a:endParaRPr lang="en-US" sz="1260" dirty="0"/>
          </a:p>
        </p:txBody>
      </p:sp>
    </p:spTree>
    <p:extLst>
      <p:ext uri="{BB962C8B-B14F-4D97-AF65-F5344CB8AC3E}">
        <p14:creationId xmlns:p14="http://schemas.microsoft.com/office/powerpoint/2010/main" val="1531097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14337" y="323850"/>
            <a:ext cx="896280" cy="19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5A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· 附录图表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14337" y="552450"/>
            <a:ext cx="4071623" cy="47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71B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候选部署点筛选结果可视化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14337" y="990600"/>
            <a:ext cx="5029074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161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对外汇报聚焦筛选结果、转化漏斗和剔除原因，不展开组内工具实现细节。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14337" y="1257300"/>
            <a:ext cx="11163022" cy="9525"/>
          </a:xfrm>
          <a:prstGeom prst="rect">
            <a:avLst/>
          </a:prstGeom>
          <a:solidFill>
            <a:srgbClr val="CAD5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52436" y="1371600"/>
            <a:ext cx="6621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352A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筛选漏斗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52436" y="1600200"/>
            <a:ext cx="3562261" cy="2286000"/>
          </a:xfrm>
          <a:prstGeom prst="rect">
            <a:avLst/>
          </a:prstGeom>
          <a:solidFill>
            <a:srgbClr val="FFFFFF"/>
          </a:solidFill>
          <a:ln w="5080">
            <a:solidFill>
              <a:srgbClr val="CDD7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314717" y="1371599"/>
            <a:ext cx="662111" cy="216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352A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筛选结果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14717" y="1600200"/>
            <a:ext cx="3562261" cy="2286000"/>
          </a:xfrm>
          <a:prstGeom prst="rect">
            <a:avLst/>
          </a:prstGeom>
          <a:solidFill>
            <a:srgbClr val="FFFFFF"/>
          </a:solidFill>
          <a:ln w="5080">
            <a:solidFill>
              <a:srgbClr val="CDD7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076999" y="1371600"/>
            <a:ext cx="662111" cy="216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352A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剔除原因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76999" y="1600200"/>
            <a:ext cx="3562261" cy="2286000"/>
          </a:xfrm>
          <a:prstGeom prst="rect">
            <a:avLst/>
          </a:prstGeom>
          <a:solidFill>
            <a:srgbClr val="FFFFFF"/>
          </a:solidFill>
          <a:ln w="5080">
            <a:solidFill>
              <a:srgbClr val="CDD7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552436" y="4171950"/>
            <a:ext cx="11086823" cy="1123950"/>
          </a:xfrm>
          <a:prstGeom prst="rect">
            <a:avLst/>
          </a:prstGeom>
          <a:solidFill>
            <a:srgbClr val="EEF4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575296" y="4171950"/>
            <a:ext cx="0" cy="1123950"/>
          </a:xfrm>
          <a:prstGeom prst="line">
            <a:avLst/>
          </a:prstGeom>
          <a:solidFill>
            <a:srgbClr val="FFFFFF">
              <a:alpha val="0"/>
            </a:srgbClr>
          </a:solidFill>
          <a:ln w="45720">
            <a:solidFill>
              <a:srgbClr val="1F5A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45799" y="4381500"/>
            <a:ext cx="10545817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4C9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汇报口径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5799" y="4660900"/>
            <a:ext cx="10545817" cy="248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528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120 个候选点经过约束筛选后，形成 74 个可部署点；剔除项主要来自道路距离、坡度和地物条件。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14337" y="6404610"/>
            <a:ext cx="1116302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F7F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短波/超短波智能规划系统 · 可视化结果</a:t>
            </a:r>
            <a:endParaRPr lang="en-US" sz="900" dirty="0"/>
          </a:p>
        </p:txBody>
      </p:sp>
      <p:pic>
        <p:nvPicPr>
          <p:cNvPr id="8888" name="candidate funn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1600200"/>
            <a:ext cx="3562350" cy="2004060"/>
          </a:xfrm>
          <a:prstGeom prst="rect">
            <a:avLst/>
          </a:prstGeom>
        </p:spPr>
      </p:pic>
      <p:pic>
        <p:nvPicPr>
          <p:cNvPr id="8889" name="candidate resul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4825" y="1600200"/>
            <a:ext cx="3562350" cy="2004060"/>
          </a:xfrm>
          <a:prstGeom prst="rect">
            <a:avLst/>
          </a:prstGeom>
        </p:spPr>
      </p:pic>
      <p:pic>
        <p:nvPicPr>
          <p:cNvPr id="8890" name="reject reason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1600200"/>
            <a:ext cx="3562350" cy="200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149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14337" y="323850"/>
            <a:ext cx="888898" cy="19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5A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 · 附录图表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14337" y="552450"/>
            <a:ext cx="3945981" cy="47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71B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数据规模与故障规则分布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14337" y="990600"/>
            <a:ext cx="3759027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161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用分布图支撑“数据集已具备算法原型验证条件”的结论。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14337" y="1257300"/>
            <a:ext cx="11163022" cy="9525"/>
          </a:xfrm>
          <a:prstGeom prst="rect">
            <a:avLst/>
          </a:prstGeom>
          <a:solidFill>
            <a:srgbClr val="CAD5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90535" y="1371600"/>
            <a:ext cx="6658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352A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节点规模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0535" y="1581150"/>
            <a:ext cx="5190995" cy="2428875"/>
          </a:xfrm>
          <a:prstGeom prst="rect">
            <a:avLst/>
          </a:prstGeom>
          <a:solidFill>
            <a:srgbClr val="FFFFFF"/>
          </a:solidFill>
          <a:ln w="5080">
            <a:solidFill>
              <a:srgbClr val="CDD7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00641" y="1371600"/>
            <a:ext cx="6658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352A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链路规模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641" y="1581150"/>
            <a:ext cx="5190995" cy="2428875"/>
          </a:xfrm>
          <a:prstGeom prst="rect">
            <a:avLst/>
          </a:prstGeom>
          <a:solidFill>
            <a:srgbClr val="FFFFFF"/>
          </a:solidFill>
          <a:ln w="5080">
            <a:solidFill>
              <a:srgbClr val="CDD7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90535" y="4114800"/>
            <a:ext cx="8760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352A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故障案例类型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0535" y="4000500"/>
            <a:ext cx="5190995" cy="2463800"/>
          </a:xfrm>
          <a:prstGeom prst="rect">
            <a:avLst/>
          </a:prstGeom>
          <a:solidFill>
            <a:srgbClr val="FFFFFF"/>
          </a:solidFill>
          <a:ln w="5080">
            <a:solidFill>
              <a:srgbClr val="CDD7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00641" y="4114800"/>
            <a:ext cx="8760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352A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故障规则类型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641" y="4000500"/>
            <a:ext cx="5190995" cy="2463800"/>
          </a:xfrm>
          <a:prstGeom prst="rect">
            <a:avLst/>
          </a:prstGeom>
          <a:solidFill>
            <a:srgbClr val="FFFFFF"/>
          </a:solidFill>
          <a:ln w="5080">
            <a:solidFill>
              <a:srgbClr val="CDD7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14337" y="6404610"/>
            <a:ext cx="1116302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F7F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短波/超短波智能规划系统 · 数据与故障诊断可视化</a:t>
            </a:r>
            <a:endParaRPr lang="en-US" sz="900" dirty="0"/>
          </a:p>
        </p:txBody>
      </p:sp>
      <p:pic>
        <p:nvPicPr>
          <p:cNvPr id="8811" name="node cou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" y="1574800"/>
            <a:ext cx="4445000" cy="2501900"/>
          </a:xfrm>
          <a:prstGeom prst="rect">
            <a:avLst/>
          </a:prstGeom>
        </p:spPr>
      </p:pic>
      <p:pic>
        <p:nvPicPr>
          <p:cNvPr id="8812" name="link coun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700" y="1574800"/>
            <a:ext cx="4445000" cy="2501900"/>
          </a:xfrm>
          <a:prstGeom prst="rect">
            <a:avLst/>
          </a:prstGeom>
        </p:spPr>
      </p:pic>
      <p:pic>
        <p:nvPicPr>
          <p:cNvPr id="8813" name="fault cas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" y="4000500"/>
            <a:ext cx="4445000" cy="2501900"/>
          </a:xfrm>
          <a:prstGeom prst="rect">
            <a:avLst/>
          </a:prstGeom>
        </p:spPr>
      </p:pic>
      <p:pic>
        <p:nvPicPr>
          <p:cNvPr id="8814" name="fault rul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9700" y="4000500"/>
            <a:ext cx="4445000" cy="250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612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14337" y="323850"/>
            <a:ext cx="896280" cy="19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5A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 · 附录图表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14337" y="552450"/>
            <a:ext cx="3876579" cy="47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71B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频率资源与链路裕量验证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14337" y="990600"/>
            <a:ext cx="4876678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161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用资源数量、冲突类型和链路裕量分布说明下一阶段算法输入已经可用。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14337" y="1257300"/>
            <a:ext cx="11163022" cy="9525"/>
          </a:xfrm>
          <a:prstGeom prst="rect">
            <a:avLst/>
          </a:prstGeom>
          <a:solidFill>
            <a:srgbClr val="CAD5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71486" y="1371600"/>
            <a:ext cx="762014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352A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频率资源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71486" y="1581150"/>
            <a:ext cx="3409865" cy="2238375"/>
          </a:xfrm>
          <a:prstGeom prst="rect">
            <a:avLst/>
          </a:prstGeom>
          <a:solidFill>
            <a:srgbClr val="FFFFFF"/>
          </a:solidFill>
          <a:ln w="5080">
            <a:solidFill>
              <a:srgbClr val="CDD7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390916" y="1371600"/>
            <a:ext cx="762014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352A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冲突约束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90916" y="1581150"/>
            <a:ext cx="3409865" cy="2238375"/>
          </a:xfrm>
          <a:prstGeom prst="rect">
            <a:avLst/>
          </a:prstGeom>
          <a:solidFill>
            <a:srgbClr val="FFFFFF"/>
          </a:solidFill>
          <a:ln w="5080">
            <a:solidFill>
              <a:srgbClr val="CDD7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210345" y="1371600"/>
            <a:ext cx="70331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352A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链路类型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10345" y="1581150"/>
            <a:ext cx="3409865" cy="2238375"/>
          </a:xfrm>
          <a:prstGeom prst="rect">
            <a:avLst/>
          </a:prstGeom>
          <a:solidFill>
            <a:srgbClr val="FFFFFF"/>
          </a:solidFill>
          <a:ln w="5080">
            <a:solidFill>
              <a:srgbClr val="CDD7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71485" y="4000500"/>
            <a:ext cx="1208453" cy="178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352A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链路裕量分布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1500" y="4210050"/>
            <a:ext cx="11049000" cy="1790700"/>
          </a:xfrm>
          <a:prstGeom prst="rect">
            <a:avLst/>
          </a:prstGeom>
          <a:solidFill>
            <a:srgbClr val="FFFFFF"/>
          </a:solidFill>
          <a:ln w="5080">
            <a:solidFill>
              <a:srgbClr val="CDD7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14337" y="6404610"/>
            <a:ext cx="1116302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F7F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短波/超短波智能规划系统 · 频率与链路可视化</a:t>
            </a:r>
            <a:endParaRPr lang="en-US" sz="900" dirty="0"/>
          </a:p>
        </p:txBody>
      </p:sp>
      <p:pic>
        <p:nvPicPr>
          <p:cNvPr id="8911" name="frequency resour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74800"/>
            <a:ext cx="3416300" cy="1917700"/>
          </a:xfrm>
          <a:prstGeom prst="rect">
            <a:avLst/>
          </a:prstGeom>
        </p:spPr>
      </p:pic>
      <p:pic>
        <p:nvPicPr>
          <p:cNvPr id="8912" name="frequency conflic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200" y="1574800"/>
            <a:ext cx="3416300" cy="1917700"/>
          </a:xfrm>
          <a:prstGeom prst="rect">
            <a:avLst/>
          </a:prstGeom>
        </p:spPr>
      </p:pic>
      <p:pic>
        <p:nvPicPr>
          <p:cNvPr id="8913" name="link typ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6900" y="1574800"/>
            <a:ext cx="3416300" cy="1917700"/>
          </a:xfrm>
          <a:prstGeom prst="rect">
            <a:avLst/>
          </a:prstGeom>
        </p:spPr>
      </p:pic>
      <p:pic>
        <p:nvPicPr>
          <p:cNvPr id="8914" name="link margi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4140200"/>
            <a:ext cx="9525000" cy="173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367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14337" y="323850"/>
            <a:ext cx="896280" cy="19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5A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 · 附录图表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14337" y="552450"/>
            <a:ext cx="9788368" cy="47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zh-CN" sz="2550" b="1" dirty="0">
                <a:solidFill>
                  <a:srgbClr val="071B33"/>
                </a:solidFill>
                <a:latin typeface="Helvetica Neue" pitchFamily="34" charset="0"/>
                <a:ea typeface="Helvetica Neue" pitchFamily="34" charset="-122"/>
              </a:rPr>
              <a:t>地形高程、现有电台节点与候选部署位置的联合可视化</a:t>
            </a:r>
            <a:endParaRPr lang="en-US" sz="2550" b="1" dirty="0">
              <a:solidFill>
                <a:srgbClr val="071B33"/>
              </a:solidFill>
              <a:latin typeface="Helvetica Neue" pitchFamily="34" charset="0"/>
              <a:ea typeface="Helvetica Neue" pitchFamily="3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514337" y="990600"/>
            <a:ext cx="90275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zh-CN" sz="1200" dirty="0">
                <a:solidFill>
                  <a:srgbClr val="516173"/>
                </a:solidFill>
                <a:latin typeface="Helvetica Neue" pitchFamily="34" charset="0"/>
                <a:ea typeface="Helvetica Neue" pitchFamily="34" charset="-122"/>
              </a:rPr>
              <a:t>底层：真实地形高程 DEM</a:t>
            </a:r>
            <a:r>
              <a:rPr lang="en-US" altLang="zh-CN" sz="1200" dirty="0">
                <a:solidFill>
                  <a:srgbClr val="516173"/>
                </a:solidFill>
                <a:latin typeface="Helvetica Neue" pitchFamily="34" charset="0"/>
                <a:ea typeface="Helvetica Neue" pitchFamily="34" charset="-122"/>
              </a:rPr>
              <a:t> +</a:t>
            </a:r>
            <a:r>
              <a:rPr lang="zh-CN" altLang="zh-CN" sz="1200" dirty="0">
                <a:solidFill>
                  <a:srgbClr val="516173"/>
                </a:solidFill>
                <a:latin typeface="Helvetica Neue" pitchFamily="34" charset="0"/>
                <a:ea typeface="Helvetica Neue" pitchFamily="34" charset="-122"/>
              </a:rPr>
              <a:t>中间层：已有 HF / VUHF 电台节点</a:t>
            </a:r>
            <a:r>
              <a:rPr lang="en-US" altLang="zh-CN" sz="1200" dirty="0">
                <a:solidFill>
                  <a:srgbClr val="516173"/>
                </a:solidFill>
                <a:latin typeface="Helvetica Neue" pitchFamily="34" charset="0"/>
                <a:ea typeface="Helvetica Neue" pitchFamily="34" charset="-122"/>
              </a:rPr>
              <a:t>+</a:t>
            </a:r>
            <a:r>
              <a:rPr lang="zh-CN" altLang="zh-CN" sz="1200" dirty="0">
                <a:solidFill>
                  <a:srgbClr val="516173"/>
                </a:solidFill>
                <a:latin typeface="Helvetica Neue" pitchFamily="34" charset="0"/>
                <a:ea typeface="Helvetica Neue" pitchFamily="34" charset="-122"/>
              </a:rPr>
              <a:t>上层：候选部署点筛选结果</a:t>
            </a:r>
          </a:p>
        </p:txBody>
      </p:sp>
      <p:sp>
        <p:nvSpPr>
          <p:cNvPr id="6" name="Shape 4"/>
          <p:cNvSpPr/>
          <p:nvPr/>
        </p:nvSpPr>
        <p:spPr>
          <a:xfrm>
            <a:off x="514337" y="1257300"/>
            <a:ext cx="11163022" cy="9525"/>
          </a:xfrm>
          <a:prstGeom prst="rect">
            <a:avLst/>
          </a:prstGeom>
          <a:solidFill>
            <a:srgbClr val="CAD5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04832" y="1485900"/>
            <a:ext cx="10782030" cy="4686300"/>
          </a:xfrm>
          <a:prstGeom prst="rect">
            <a:avLst/>
          </a:prstGeom>
          <a:solidFill>
            <a:srgbClr val="FFFFFF"/>
          </a:solidFill>
          <a:ln w="5080">
            <a:solidFill>
              <a:srgbClr val="CDD7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14337" y="6404610"/>
            <a:ext cx="1116302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F7F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短波/超短波智能规划系统 · 路由规划可视化</a:t>
            </a:r>
            <a:endParaRPr lang="en-US" sz="9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C0EC1CF-4208-6FCC-B741-0743DE659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9659" y="1623156"/>
            <a:ext cx="7892681" cy="4372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973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368ACE2-A5D3-4C2F-B78E-3B815F6F5537}">
  <we:reference id="wa200010215" version="2.0.0.0" store="zh-CN" storeType="OMEX"/>
  <we:alternateReferences>
    <we:reference id="WA200010215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758</Words>
  <Application>Microsoft Office PowerPoint</Application>
  <PresentationFormat>宽屏</PresentationFormat>
  <Paragraphs>236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Helvetica Neue</vt:lpstr>
      <vt:lpstr>Arial</vt:lpstr>
      <vt:lpstr>Consolas</vt:lpstr>
      <vt:lpstr>Office Theme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项目进度汇报</dc:title>
  <dc:subject>短波/超短波智能规划项目进度汇报</dc:subject>
  <dc:creator>OpenAI</dc:creator>
  <cp:lastModifiedBy>方传 魏</cp:lastModifiedBy>
  <cp:revision>33</cp:revision>
  <dcterms:created xsi:type="dcterms:W3CDTF">2026-09-11T04:27:03Z</dcterms:created>
  <dcterms:modified xsi:type="dcterms:W3CDTF">2026-09-15T06:36:37Z</dcterms:modified>
</cp:coreProperties>
</file>