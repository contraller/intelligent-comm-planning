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7" r:id="rId2"/>
    <p:sldId id="263" r:id="rId3"/>
    <p:sldId id="256" r:id="rId4"/>
    <p:sldId id="267" r:id="rId5"/>
    <p:sldId id="268" r:id="rId6"/>
    <p:sldId id="269" r:id="rId7"/>
    <p:sldId id="270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9762" autoAdjust="0"/>
  </p:normalViewPr>
  <p:slideViewPr>
    <p:cSldViewPr snapToGrid="0" snapToObjects="1">
      <p:cViewPr>
        <p:scale>
          <a:sx n="100" d="100"/>
          <a:sy n="100" d="100"/>
        </p:scale>
        <p:origin x="232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5F7F85"/>
          </a:solidFill>
          <a:ln w="12700">
            <a:solidFill>
              <a:srgbClr val="5F7F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7782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阶段完成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6809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1027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W3–W4</a:t>
            </a:r>
            <a:r>
              <a:rPr lang="zh-CN" altLang="en-US" sz="2800" b="1" dirty="0">
                <a:solidFill>
                  <a:srgbClr val="1027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altLang="zh-CN" sz="2800" b="1" dirty="0">
                <a:solidFill>
                  <a:srgbClr val="1027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SR-4 </a:t>
            </a:r>
            <a:r>
              <a:rPr lang="zh-CN" altLang="en-US" sz="2800" b="1" dirty="0">
                <a:solidFill>
                  <a:srgbClr val="1027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无线网络规划算法完成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短波</a:t>
            </a:r>
            <a:r>
              <a:rPr lang="en-US" altLang="zh-CN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zh-CN" alt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超短波智能规划系统 </a:t>
            </a:r>
            <a:r>
              <a:rPr lang="en-US" altLang="zh-CN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W3–W4 </a:t>
            </a:r>
            <a:r>
              <a:rPr lang="zh-CN" alt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五分钟汇报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D4E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两周形成从资源规划到方案优化的完整闭环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91672" cy="1295400"/>
          </a:xfrm>
          <a:prstGeom prst="roundRect">
            <a:avLst>
              <a:gd name="adj" fmla="val 6557"/>
            </a:avLst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49808" y="2260600"/>
            <a:ext cx="566928" cy="566928"/>
          </a:xfrm>
          <a:prstGeom prst="ellipse">
            <a:avLst/>
          </a:prstGeom>
          <a:solidFill>
            <a:srgbClr val="1D4E57"/>
          </a:solidFill>
          <a:ln w="12700">
            <a:solidFill>
              <a:srgbClr val="1D4E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396490"/>
            <a:ext cx="294640" cy="2946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112010"/>
            <a:ext cx="9842500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W3 · </a:t>
            </a:r>
            <a:r>
              <a:rPr lang="zh-CN" altLang="en-US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解决资源怎么分配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476500"/>
            <a:ext cx="9842500" cy="673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主备路由规划 </a:t>
            </a:r>
            <a:r>
              <a:rPr lang="en-US" altLang="zh-CN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</a:t>
            </a:r>
            <a:r>
              <a:rPr lang="zh-CN" altLang="en-US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频率资源分配 </a:t>
            </a:r>
            <a:r>
              <a:rPr lang="en-US" altLang="zh-CN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</a:t>
            </a:r>
            <a:r>
              <a:rPr lang="zh-CN" altLang="en-US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电台参数规划 </a:t>
            </a:r>
            <a:r>
              <a:rPr lang="en-US" altLang="zh-CN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</a:t>
            </a:r>
            <a:r>
              <a:rPr lang="zh-CN" altLang="en-US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方案冲突校验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454400"/>
            <a:ext cx="11091672" cy="1295400"/>
          </a:xfrm>
          <a:prstGeom prst="roundRect">
            <a:avLst>
              <a:gd name="adj" fmla="val 6557"/>
            </a:avLst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749808" y="3746500"/>
            <a:ext cx="566928" cy="566928"/>
          </a:xfrm>
          <a:prstGeom prst="ellipse">
            <a:avLst/>
          </a:prstGeom>
          <a:solidFill>
            <a:srgbClr val="5F7F85"/>
          </a:solidFill>
          <a:ln w="12700">
            <a:solidFill>
              <a:srgbClr val="5F7F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882390"/>
            <a:ext cx="294640" cy="2946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08760" y="3600450"/>
            <a:ext cx="9842500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W4 · </a:t>
            </a:r>
            <a:r>
              <a:rPr lang="zh-CN" altLang="en-US" b="1" dirty="0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解决方案怎么优化、受到干扰后怎么办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508760" y="3962400"/>
            <a:ext cx="9842500" cy="673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多目标优化 </a:t>
            </a:r>
            <a:r>
              <a:rPr lang="en-US" altLang="zh-CN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</a:t>
            </a:r>
            <a:r>
              <a:rPr lang="zh-CN" altLang="en-US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干扰分析 </a:t>
            </a:r>
            <a:r>
              <a:rPr lang="en-US" altLang="zh-CN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</a:t>
            </a:r>
            <a:r>
              <a:rPr lang="zh-CN" altLang="en-US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抗干扰建议 </a:t>
            </a:r>
            <a:r>
              <a:rPr lang="en-US" altLang="zh-CN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SR-4 </a:t>
            </a:r>
            <a:r>
              <a:rPr lang="zh-CN" altLang="en-US" sz="14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全流程整合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5067300"/>
            <a:ext cx="11091672" cy="1092200"/>
          </a:xfrm>
          <a:prstGeom prst="roundRect">
            <a:avLst>
              <a:gd name="adj" fmla="val 6557"/>
            </a:avLst>
          </a:prstGeom>
          <a:solidFill>
            <a:srgbClr val="DDEEF0"/>
          </a:solidFill>
          <a:ln w="12700">
            <a:solidFill>
              <a:srgbClr val="E3F1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 txBox="1"/>
          <p:nvPr/>
        </p:nvSpPr>
        <p:spPr>
          <a:xfrm>
            <a:off x="774700" y="5194300"/>
            <a:ext cx="104140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500" b="1">
                <a:solidFill>
                  <a:srgbClr val="2378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算法侧：已完成并通过自动化测试（</a:t>
            </a:r>
            <a:r>
              <a:rPr lang="en-US" altLang="zh-CN" sz="1500" b="1">
                <a:solidFill>
                  <a:srgbClr val="2378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 / 23</a:t>
            </a:r>
            <a:r>
              <a:rPr lang="zh-CN" altLang="en-US" sz="1500" b="1">
                <a:solidFill>
                  <a:srgbClr val="2378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74700" y="5562600"/>
            <a:ext cx="1041400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zh-CN" altLang="en-US" sz="1300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系统侧：待正式频率资源确认和 </a:t>
            </a:r>
            <a:r>
              <a:rPr lang="en-US" altLang="zh-CN" sz="1300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GIS </a:t>
            </a:r>
            <a:r>
              <a:rPr lang="zh-CN" altLang="en-US" sz="1300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前端联调｜状态不写“项目全部完成”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63624" cy="292608"/>
          </a:xfrm>
          <a:prstGeom prst="roundRect">
            <a:avLst>
              <a:gd name="adj" fmla="val 50000"/>
            </a:avLst>
          </a:prstGeom>
          <a:solidFill>
            <a:srgbClr val="1D4E57"/>
          </a:solidFill>
          <a:ln w="12700">
            <a:solidFill>
              <a:srgbClr val="1D4E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56362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W3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路由与资源规划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6809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CN" sz="2700" b="1">
                <a:solidFill>
                  <a:srgbClr val="1027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W3 </a:t>
            </a:r>
            <a:r>
              <a:rPr lang="zh-CN" altLang="en-US" sz="2700" b="1">
                <a:solidFill>
                  <a:srgbClr val="1027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解决资源怎么分配：路由、频率、参数与校验一次完成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35024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系统成功发现 </a:t>
            </a:r>
            <a:r>
              <a:rPr lang="en-US" altLang="zh-CN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</a:t>
            </a:r>
            <a:r>
              <a:rPr lang="zh-CN" altLang="en-US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处资源冲突</a:t>
            </a:r>
            <a:r>
              <a:rPr lang="en-US" altLang="zh-CN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</a:t>
            </a:r>
            <a:r>
              <a:rPr lang="zh-CN" altLang="en-US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这是约束识别结果，不是算法错误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短波</a:t>
            </a:r>
            <a:r>
              <a:rPr lang="en-US" altLang="zh-CN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zh-CN" alt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超短波智能规划系统 </a:t>
            </a:r>
            <a:r>
              <a:rPr lang="en-US" altLang="zh-CN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W3–W4 </a:t>
            </a:r>
            <a:r>
              <a:rPr lang="zh-CN" alt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五分钟汇报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部署方案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1810512"/>
            <a:ext cx="3749040" cy="512064"/>
          </a:xfrm>
          <a:prstGeom prst="roundRect">
            <a:avLst>
              <a:gd name="adj" fmla="val 8929"/>
            </a:avLst>
          </a:prstGeom>
          <a:solidFill>
            <a:srgbClr val="2A8C9A"/>
          </a:solidFill>
          <a:ln w="12700">
            <a:solidFill>
              <a:srgbClr val="2A8C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2788920" y="1810512"/>
            <a:ext cx="3749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6888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主备路由规划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24912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三种策略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88985" y="2450592"/>
            <a:ext cx="3748911" cy="512064"/>
          </a:xfrm>
          <a:prstGeom prst="roundRect">
            <a:avLst>
              <a:gd name="adj" fmla="val 8929"/>
            </a:avLst>
          </a:prstGeom>
          <a:solidFill>
            <a:srgbClr val="2A8C9A"/>
          </a:solidFill>
          <a:ln w="12700">
            <a:solidFill>
              <a:srgbClr val="2A8C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2788985" y="2450592"/>
            <a:ext cx="3748911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432 / 432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0896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频率资源分配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64992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按网系 </a:t>
            </a:r>
            <a:r>
              <a:rPr lang="en-US" altLang="zh-CN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 </a:t>
            </a: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71223" y="3090672"/>
            <a:ext cx="3184434" cy="512064"/>
          </a:xfrm>
          <a:prstGeom prst="roundRect">
            <a:avLst>
              <a:gd name="adj" fmla="val 8929"/>
            </a:avLst>
          </a:prstGeom>
          <a:solidFill>
            <a:srgbClr val="2A8C9A"/>
          </a:solidFill>
          <a:ln w="12700">
            <a:solidFill>
              <a:srgbClr val="2A8C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3071223" y="3090672"/>
            <a:ext cx="3184434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zh-CN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处冲突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4904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功率与电台参数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05072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三套预选配置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629" y="3730752"/>
            <a:ext cx="3109623" cy="512064"/>
          </a:xfrm>
          <a:prstGeom prst="roundRect">
            <a:avLst>
              <a:gd name="adj" fmla="val 8929"/>
            </a:avLst>
          </a:prstGeom>
          <a:solidFill>
            <a:srgbClr val="2A8C9A"/>
          </a:solidFill>
          <a:ln w="12700">
            <a:solidFill>
              <a:srgbClr val="2A8C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3108629" y="3730752"/>
            <a:ext cx="3109623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方案冲突校验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45152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四类问题自动检查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13068" y="4370832"/>
            <a:ext cx="2900744" cy="512064"/>
          </a:xfrm>
          <a:prstGeom prst="roundRect">
            <a:avLst>
              <a:gd name="adj" fmla="val 8929"/>
            </a:avLst>
          </a:prstGeom>
          <a:solidFill>
            <a:srgbClr val="2A8C9A"/>
          </a:solidFill>
          <a:ln w="12700">
            <a:solidFill>
              <a:srgbClr val="2A8C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3213068" y="4370832"/>
            <a:ext cx="2900744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0292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W3 </a:t>
            </a: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全流程耗时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85232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验收指标 ≤ </a:t>
            </a:r>
            <a:r>
              <a:rPr lang="en-US" altLang="zh-CN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300 </a:t>
            </a: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08576" y="5010912"/>
            <a:ext cx="109728" cy="512064"/>
          </a:xfrm>
          <a:prstGeom prst="roundRect">
            <a:avLst>
              <a:gd name="adj" fmla="val 41667"/>
            </a:avLst>
          </a:prstGeom>
          <a:solidFill>
            <a:srgbClr val="C4622A"/>
          </a:solidFill>
          <a:ln w="12700">
            <a:solidFill>
              <a:srgbClr val="C462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4892040" y="5010912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CN" b="1">
                <a:solidFill>
                  <a:srgbClr val="C46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48.73 </a:t>
            </a:r>
            <a:r>
              <a:rPr lang="zh-CN" altLang="en-US" b="1">
                <a:solidFill>
                  <a:srgbClr val="C46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76072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通联需求 </a:t>
            </a:r>
            <a:r>
              <a:rPr lang="en-US" altLang="zh-CN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432 </a:t>
            </a: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条｜路由可达 </a:t>
            </a:r>
            <a:r>
              <a:rPr lang="en-US" altLang="zh-CN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432/432</a:t>
            </a: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100%</a:t>
            </a: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）｜有备用路由 </a:t>
            </a:r>
            <a:r>
              <a:rPr lang="en-US" altLang="zh-CN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73 </a:t>
            </a: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条｜异步接口提供给前端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95160" y="1810512"/>
            <a:ext cx="4645152" cy="896112"/>
          </a:xfrm>
          <a:prstGeom prst="roundRect">
            <a:avLst>
              <a:gd name="adj" fmla="val 8163"/>
            </a:avLst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150608" y="2011680"/>
            <a:ext cx="475488" cy="475488"/>
          </a:xfrm>
          <a:prstGeom prst="ellipse">
            <a:avLst/>
          </a:prstGeom>
          <a:solidFill>
            <a:srgbClr val="1D4E57"/>
          </a:solidFill>
          <a:ln w="12700">
            <a:solidFill>
              <a:srgbClr val="1D4E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725" y="2125797"/>
            <a:ext cx="247254" cy="247254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7772400" y="19019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路由策略与路径控制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2194560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最短路径、最小时延、最高可靠性；支持主用、备用和人工指定路径。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995160" y="2816352"/>
            <a:ext cx="4645152" cy="896112"/>
          </a:xfrm>
          <a:prstGeom prst="roundRect">
            <a:avLst>
              <a:gd name="adj" fmla="val 8163"/>
            </a:avLst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5"/>
          <p:cNvSpPr/>
          <p:nvPr/>
        </p:nvSpPr>
        <p:spPr>
          <a:xfrm>
            <a:off x="7150608" y="3017520"/>
            <a:ext cx="475488" cy="475488"/>
          </a:xfrm>
          <a:prstGeom prst="ellipse">
            <a:avLst/>
          </a:prstGeom>
          <a:solidFill>
            <a:srgbClr val="1D4E57"/>
          </a:solidFill>
          <a:ln w="12700">
            <a:solidFill>
              <a:srgbClr val="1D4E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725" y="3131637"/>
            <a:ext cx="247254" cy="247254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7772400" y="290779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频率与参数规划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7772400" y="3200400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按网系或链路分配频率；提供地形地貌型、任务需求型、干扰环境型配置。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6995160" y="3822192"/>
            <a:ext cx="4645152" cy="896112"/>
          </a:xfrm>
          <a:prstGeom prst="roundRect">
            <a:avLst>
              <a:gd name="adj" fmla="val 8163"/>
            </a:avLst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9"/>
          <p:cNvSpPr/>
          <p:nvPr/>
        </p:nvSpPr>
        <p:spPr>
          <a:xfrm>
            <a:off x="7150608" y="4023360"/>
            <a:ext cx="475488" cy="475488"/>
          </a:xfrm>
          <a:prstGeom prst="ellipse">
            <a:avLst/>
          </a:prstGeom>
          <a:solidFill>
            <a:srgbClr val="1D4E57"/>
          </a:solidFill>
          <a:ln w="12700">
            <a:solidFill>
              <a:srgbClr val="1D4E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725" y="4137477"/>
            <a:ext cx="247254" cy="247254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7772400" y="391363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自动方案校验</a:t>
            </a:r>
            <a:endParaRPr lang="en-US" sz="1400" dirty="0"/>
          </a:p>
        </p:txBody>
      </p:sp>
      <p:sp>
        <p:nvSpPr>
          <p:cNvPr id="46" name="Text 41"/>
          <p:cNvSpPr txBox="1"/>
          <p:nvPr/>
        </p:nvSpPr>
        <p:spPr>
          <a:xfrm>
            <a:off x="7772400" y="4206240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检查频率冲突、参数越界、链路余量不足和路由不可达。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6995160" y="4828032"/>
            <a:ext cx="4645152" cy="896112"/>
          </a:xfrm>
          <a:prstGeom prst="roundRect">
            <a:avLst>
              <a:gd name="adj" fmla="val 8163"/>
            </a:avLst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3"/>
          <p:cNvSpPr/>
          <p:nvPr/>
        </p:nvSpPr>
        <p:spPr>
          <a:xfrm>
            <a:off x="7150608" y="5029200"/>
            <a:ext cx="475488" cy="475488"/>
          </a:xfrm>
          <a:prstGeom prst="ellipse">
            <a:avLst/>
          </a:prstGeom>
          <a:solidFill>
            <a:srgbClr val="1D4E57"/>
          </a:solidFill>
          <a:ln w="12700">
            <a:solidFill>
              <a:srgbClr val="1D4E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4725" y="5143317"/>
            <a:ext cx="247254" cy="247254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7772400" y="491947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实测结论</a:t>
            </a:r>
            <a:endParaRPr lang="en-US" sz="1400" dirty="0"/>
          </a:p>
        </p:txBody>
      </p:sp>
      <p:sp>
        <p:nvSpPr>
          <p:cNvPr id="51" name="Text 45"/>
          <p:cNvSpPr txBox="1"/>
          <p:nvPr/>
        </p:nvSpPr>
        <p:spPr>
          <a:xfrm>
            <a:off x="7772400" y="5212080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altLang="zh-CN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</a:t>
            </a: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处严重同频冲突说明现有超短波频率不足，需合作方确认是否扩充频率池。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9496" y="420624"/>
            <a:ext cx="68580" cy="539496"/>
          </a:xfrm>
          <a:prstGeom prst="roundRect">
            <a:avLst>
              <a:gd name="adj" fmla="val 133333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356616"/>
            <a:ext cx="5852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路由规划算法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692640" y="544068"/>
            <a:ext cx="1856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SR-4.2.2.1    routing.py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76072" y="1417320"/>
            <a:ext cx="4187952" cy="2898648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946904" y="1417320"/>
            <a:ext cx="6665976" cy="2898648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13816" y="1664208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23544" y="1668780"/>
            <a:ext cx="164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316736" y="16276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双频拓扑建模</a:t>
            </a:r>
            <a:endParaRPr lang="en-US" sz="1640" dirty="0"/>
          </a:p>
        </p:txBody>
      </p:sp>
      <p:sp>
        <p:nvSpPr>
          <p:cNvPr id="13" name="Text 11"/>
          <p:cNvSpPr/>
          <p:nvPr/>
        </p:nvSpPr>
        <p:spPr>
          <a:xfrm>
            <a:off x="868680" y="2057400"/>
            <a:ext cx="3730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顶点：(台站, 频段) ；无线链路仅连接同频段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832104" y="2624328"/>
            <a:ext cx="1033272" cy="429768"/>
          </a:xfrm>
          <a:prstGeom prst="roundRect">
            <a:avLst>
              <a:gd name="adj" fmla="val 21277"/>
            </a:avLst>
          </a:prstGeom>
          <a:solidFill>
            <a:srgbClr val="EAF3FC"/>
          </a:solidFill>
          <a:ln w="10160">
            <a:solidFill>
              <a:srgbClr val="B1D5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249424" y="2624328"/>
            <a:ext cx="1060704" cy="429768"/>
          </a:xfrm>
          <a:prstGeom prst="roundRect">
            <a:avLst>
              <a:gd name="adj" fmla="val 21277"/>
            </a:avLst>
          </a:prstGeom>
          <a:solidFill>
            <a:srgbClr val="EAF3FC"/>
          </a:solidFill>
          <a:ln w="10160">
            <a:solidFill>
              <a:srgbClr val="B1D5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249424" y="3319272"/>
            <a:ext cx="1060704" cy="429768"/>
          </a:xfrm>
          <a:prstGeom prst="roundRect">
            <a:avLst>
              <a:gd name="adj" fmla="val 21277"/>
            </a:avLst>
          </a:prstGeom>
          <a:solidFill>
            <a:srgbClr val="E7F6F3"/>
          </a:solidFill>
          <a:ln w="10160">
            <a:solidFill>
              <a:srgbClr val="AFE0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657600" y="3319272"/>
            <a:ext cx="868680" cy="429768"/>
          </a:xfrm>
          <a:prstGeom prst="roundRect">
            <a:avLst>
              <a:gd name="adj" fmla="val 21277"/>
            </a:avLst>
          </a:prstGeom>
          <a:solidFill>
            <a:srgbClr val="E7F6F3"/>
          </a:solidFill>
          <a:ln w="10160">
            <a:solidFill>
              <a:srgbClr val="AFE0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68680" y="272034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· VUHF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2286000" y="272034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· VUHF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2304288" y="341528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· HF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3694176" y="3415284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· HF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1892808" y="2839212"/>
            <a:ext cx="329184" cy="0"/>
          </a:xfrm>
          <a:prstGeom prst="line">
            <a:avLst/>
          </a:prstGeom>
          <a:noFill/>
          <a:ln w="2921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779776" y="3090672"/>
            <a:ext cx="0" cy="164592"/>
          </a:xfrm>
          <a:prstGeom prst="line">
            <a:avLst/>
          </a:prstGeom>
          <a:noFill/>
          <a:ln w="27940">
            <a:solidFill>
              <a:srgbClr val="168C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337560" y="3534156"/>
            <a:ext cx="292608" cy="0"/>
          </a:xfrm>
          <a:prstGeom prst="line">
            <a:avLst/>
          </a:prstGeom>
          <a:noFill/>
          <a:ln w="27940">
            <a:solidFill>
              <a:srgbClr val="168C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846070" y="307604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内部换频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832104" y="3886200"/>
            <a:ext cx="3703320" cy="283464"/>
          </a:xfrm>
          <a:prstGeom prst="roundRect">
            <a:avLst>
              <a:gd name="adj" fmla="val 32258"/>
            </a:avLst>
          </a:prstGeom>
          <a:solidFill>
            <a:srgbClr val="F2F7FD"/>
          </a:solidFill>
          <a:ln w="12700">
            <a:solidFill>
              <a:srgbClr val="F2F7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50976" y="39136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设定换频时</a:t>
            </a:r>
            <a:r>
              <a:rPr lang="en-US" sz="1000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：0 跳数 · 15 ms 时延 · 可靠性取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02936" y="1664208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312664" y="1668780"/>
            <a:ext cx="164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705856" y="1627632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 Dijkstra，不同的边权重</a:t>
            </a:r>
            <a:endParaRPr lang="en-US" sz="1640" dirty="0"/>
          </a:p>
        </p:txBody>
      </p:sp>
      <p:sp>
        <p:nvSpPr>
          <p:cNvPr id="31" name="Text 29"/>
          <p:cNvSpPr/>
          <p:nvPr/>
        </p:nvSpPr>
        <p:spPr>
          <a:xfrm>
            <a:off x="5285232" y="210312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7452360" y="2103120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优化目标 / 累加权重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5230368" y="2386584"/>
            <a:ext cx="6108192" cy="512064"/>
          </a:xfrm>
          <a:prstGeom prst="roundRect">
            <a:avLst>
              <a:gd name="adj" fmla="val 17857"/>
            </a:avLst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230368" y="2386584"/>
            <a:ext cx="50292" cy="512064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440680" y="247802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最少跳数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7452360" y="241767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w(e) = 1（无线链路）/ 0（换频边）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7452360" y="2663647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最少无线中继跳数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230368" y="2980944"/>
            <a:ext cx="6108192" cy="512064"/>
          </a:xfrm>
          <a:prstGeom prst="roundRect">
            <a:avLst>
              <a:gd name="adj" fmla="val 17857"/>
            </a:avLst>
          </a:prstGeom>
          <a:solidFill>
            <a:srgbClr val="FDF7F1"/>
          </a:solidFill>
          <a:ln w="12700">
            <a:solidFill>
              <a:srgbClr val="FDF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230368" y="2980944"/>
            <a:ext cx="50292" cy="512064"/>
          </a:xfrm>
          <a:prstGeom prst="rect">
            <a:avLst/>
          </a:prstGeom>
          <a:solidFill>
            <a:srgbClr val="C97833"/>
          </a:solidFill>
          <a:ln w="12700">
            <a:solidFill>
              <a:srgbClr val="C97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440680" y="307238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最小时延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7452360" y="301203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w(e) = dₑ</a:t>
            </a:r>
            <a:endParaRPr lang="en-US" sz="1240" dirty="0"/>
          </a:p>
        </p:txBody>
      </p:sp>
      <p:sp>
        <p:nvSpPr>
          <p:cNvPr id="42" name="Text 40"/>
          <p:cNvSpPr/>
          <p:nvPr/>
        </p:nvSpPr>
        <p:spPr>
          <a:xfrm>
            <a:off x="7452360" y="3258007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链路时延累加；换频边计入 15 ms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5230368" y="3575304"/>
            <a:ext cx="6108192" cy="512064"/>
          </a:xfrm>
          <a:prstGeom prst="roundRect">
            <a:avLst>
              <a:gd name="adj" fmla="val 17857"/>
            </a:avLst>
          </a:prstGeom>
          <a:solidFill>
            <a:srgbClr val="EEF8F2"/>
          </a:solidFill>
          <a:ln w="12700">
            <a:solidFill>
              <a:srgbClr val="EEF8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230368" y="3575304"/>
            <a:ext cx="50292" cy="512064"/>
          </a:xfrm>
          <a:prstGeom prst="rect">
            <a:avLst/>
          </a:prstGeom>
          <a:solidFill>
            <a:srgbClr val="198268"/>
          </a:solidFill>
          <a:ln w="12700">
            <a:solidFill>
              <a:srgbClr val="1982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440680" y="366674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最高可靠性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7452360" y="360639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w(e) = −ln(pₑ)              [Me </a:t>
            </a:r>
            <a:r>
              <a:rPr lang="zh-CN" altLang="en-US" sz="124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链路余量； </a:t>
            </a:r>
            <a:r>
              <a:rPr lang="en-US" altLang="zh-CN" sz="124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</a:t>
            </a:r>
            <a:r>
              <a:rPr lang="zh-CN" altLang="en-US" sz="124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链路可靠性</a:t>
            </a:r>
            <a:r>
              <a:rPr lang="en-US" sz="124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]</a:t>
            </a:r>
            <a:endParaRPr lang="en-US" sz="1240" dirty="0"/>
          </a:p>
        </p:txBody>
      </p:sp>
      <p:sp>
        <p:nvSpPr>
          <p:cNvPr id="47" name="Text 45"/>
          <p:cNvSpPr/>
          <p:nvPr/>
        </p:nvSpPr>
        <p:spPr>
          <a:xfrm>
            <a:off x="7452360" y="3852367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pₑ = 1 − Q(Mₑ / σ)，σ = 8 dB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576072" y="4498848"/>
            <a:ext cx="110368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13816" y="4690872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23544" y="4695444"/>
            <a:ext cx="164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1316736" y="4654296"/>
            <a:ext cx="3840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主备路由与故障分析</a:t>
            </a:r>
            <a:endParaRPr lang="en-US" sz="1640" dirty="0"/>
          </a:p>
        </p:txBody>
      </p:sp>
      <p:sp>
        <p:nvSpPr>
          <p:cNvPr id="52" name="Shape 50"/>
          <p:cNvSpPr/>
          <p:nvPr/>
        </p:nvSpPr>
        <p:spPr>
          <a:xfrm>
            <a:off x="877824" y="5129784"/>
            <a:ext cx="2148840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1016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60120" y="5186477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主路径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946404" y="539496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按所选策略求最优路径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3076956" y="5367528"/>
            <a:ext cx="114300" cy="0"/>
          </a:xfrm>
          <a:prstGeom prst="line">
            <a:avLst/>
          </a:prstGeom>
          <a:noFill/>
          <a:ln w="2159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3264408" y="5129784"/>
            <a:ext cx="2331720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1016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3346704" y="5186477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优先：节点不相交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3332988" y="539496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排除主路由中间节点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5646420" y="5367528"/>
            <a:ext cx="123444" cy="0"/>
          </a:xfrm>
          <a:prstGeom prst="line">
            <a:avLst/>
          </a:prstGeom>
          <a:noFill/>
          <a:ln w="2159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5843016" y="5129784"/>
            <a:ext cx="2350008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1016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5925312" y="5186477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退化：链路不相交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5911596" y="5394960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排除主路由无线链路</a:t>
            </a:r>
            <a:endParaRPr lang="en-US" sz="930" dirty="0"/>
          </a:p>
        </p:txBody>
      </p:sp>
      <p:sp>
        <p:nvSpPr>
          <p:cNvPr id="63" name="Shape 61"/>
          <p:cNvSpPr/>
          <p:nvPr/>
        </p:nvSpPr>
        <p:spPr>
          <a:xfrm>
            <a:off x="8243316" y="5367528"/>
            <a:ext cx="132588" cy="0"/>
          </a:xfrm>
          <a:prstGeom prst="line">
            <a:avLst/>
          </a:prstGeom>
          <a:noFill/>
          <a:ln w="2159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8449056" y="5129784"/>
            <a:ext cx="2770632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1016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8531352" y="5186477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结果汇总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8517636" y="5394960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主备类型、单点风险、瓶颈链路</a:t>
            </a:r>
            <a:endParaRPr lang="en-US" sz="930" dirty="0"/>
          </a:p>
        </p:txBody>
      </p:sp>
      <p:sp>
        <p:nvSpPr>
          <p:cNvPr id="67" name="Text 65"/>
          <p:cNvSpPr/>
          <p:nvPr/>
        </p:nvSpPr>
        <p:spPr>
          <a:xfrm>
            <a:off x="685800" y="5971032"/>
            <a:ext cx="10936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输出指标  节点/链路序列 · 跳数 · 总时延 · 路径可靠性 · 最小余量 · 瓶颈链路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94944" y="6327648"/>
            <a:ext cx="10789920" cy="0"/>
          </a:xfrm>
          <a:prstGeom prst="line">
            <a:avLst/>
          </a:prstGeom>
          <a:noFill/>
          <a:ln w="10160">
            <a:solidFill>
              <a:srgbClr val="CFDC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9496" y="420624"/>
            <a:ext cx="68580" cy="539496"/>
          </a:xfrm>
          <a:prstGeom prst="roundRect">
            <a:avLst>
              <a:gd name="adj" fmla="val 133333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356616"/>
            <a:ext cx="5852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频率规划算法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692640" y="544068"/>
            <a:ext cx="1856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SR-4.2.2.2    frequency.py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76072" y="1417320"/>
            <a:ext cx="4187952" cy="2898648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946904" y="1417320"/>
            <a:ext cx="6665976" cy="2898648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13816" y="1664208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23544" y="1668780"/>
            <a:ext cx="164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316736" y="16276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干扰图建模</a:t>
            </a:r>
            <a:endParaRPr lang="en-US" sz="1640" dirty="0"/>
          </a:p>
        </p:txBody>
      </p:sp>
      <p:sp>
        <p:nvSpPr>
          <p:cNvPr id="13" name="Text 11"/>
          <p:cNvSpPr/>
          <p:nvPr/>
        </p:nvSpPr>
        <p:spPr>
          <a:xfrm>
            <a:off x="868680" y="2057400"/>
            <a:ext cx="3721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顶点 = 通信网系    ·    边 = 潜在干扰关系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1417320" y="3246120"/>
            <a:ext cx="1426464" cy="0"/>
          </a:xfrm>
          <a:prstGeom prst="line">
            <a:avLst/>
          </a:prstGeom>
          <a:noFill/>
          <a:ln w="30480">
            <a:solidFill>
              <a:srgbClr val="B4C4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148840" y="2624328"/>
            <a:ext cx="694944" cy="621792"/>
          </a:xfrm>
          <a:prstGeom prst="line">
            <a:avLst/>
          </a:prstGeom>
          <a:noFill/>
          <a:ln w="30480">
            <a:solidFill>
              <a:srgbClr val="B4C4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843784" y="3246120"/>
            <a:ext cx="0" cy="0"/>
          </a:xfrm>
          <a:prstGeom prst="line">
            <a:avLst/>
          </a:prstGeom>
          <a:noFill/>
          <a:ln w="30480">
            <a:solidFill>
              <a:srgbClr val="B4C4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843784" y="3246120"/>
            <a:ext cx="1179576" cy="0"/>
          </a:xfrm>
          <a:prstGeom prst="line">
            <a:avLst/>
          </a:prstGeom>
          <a:noFill/>
          <a:ln w="30480">
            <a:solidFill>
              <a:srgbClr val="B4C4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28700" y="3031236"/>
            <a:ext cx="429768" cy="429768"/>
          </a:xfrm>
          <a:prstGeom prst="ellipse">
            <a:avLst/>
          </a:prstGeom>
          <a:solidFill>
            <a:srgbClr val="2474BC"/>
          </a:solidFill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69848" y="3090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3502152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f₁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1933956" y="2409444"/>
            <a:ext cx="429768" cy="429768"/>
          </a:xfrm>
          <a:prstGeom prst="ellipse">
            <a:avLst/>
          </a:prstGeom>
          <a:solidFill>
            <a:srgbClr val="C97833"/>
          </a:solidFill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975104" y="246888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92808" y="2880360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f₂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2628900" y="3031236"/>
            <a:ext cx="429768" cy="429768"/>
          </a:xfrm>
          <a:prstGeom prst="ellipse">
            <a:avLst/>
          </a:prstGeom>
          <a:solidFill>
            <a:srgbClr val="198268"/>
          </a:solidFill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670048" y="3090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87752" y="3502152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f₃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045254" y="3013528"/>
            <a:ext cx="429768" cy="429768"/>
          </a:xfrm>
          <a:prstGeom prst="ellipse">
            <a:avLst/>
          </a:prstGeom>
          <a:solidFill>
            <a:srgbClr val="2474BC"/>
          </a:solidFill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086402" y="3074541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05072" y="3497580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f₁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22960" y="3877056"/>
            <a:ext cx="3694176" cy="283464"/>
          </a:xfrm>
          <a:prstGeom prst="roundRect">
            <a:avLst>
              <a:gd name="adj" fmla="val 32258"/>
            </a:avLst>
          </a:prstGeom>
          <a:solidFill>
            <a:srgbClr val="F2F7FD"/>
          </a:solidFill>
          <a:ln w="12700">
            <a:solidFill>
              <a:srgbClr val="F2F7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50976" y="3913632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与 D 无干扰边，可复用同一频点 f₁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202936" y="1664208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312664" y="1668780"/>
            <a:ext cx="164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5705856" y="1627632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DSATUR 饱和度优先着色</a:t>
            </a:r>
            <a:endParaRPr lang="en-US" sz="1640" dirty="0"/>
          </a:p>
        </p:txBody>
      </p:sp>
      <p:sp>
        <p:nvSpPr>
          <p:cNvPr id="35" name="Text 33"/>
          <p:cNvSpPr/>
          <p:nvPr/>
        </p:nvSpPr>
        <p:spPr>
          <a:xfrm>
            <a:off x="5294376" y="209397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优先给受已有频点约束最多的网系分配；平手时选干扰邻居更多者</a:t>
            </a:r>
            <a:endParaRPr lang="en-US" sz="1110" dirty="0"/>
          </a:p>
        </p:txBody>
      </p:sp>
      <p:sp>
        <p:nvSpPr>
          <p:cNvPr id="36" name="Shape 34"/>
          <p:cNvSpPr/>
          <p:nvPr/>
        </p:nvSpPr>
        <p:spPr>
          <a:xfrm>
            <a:off x="5230368" y="2487168"/>
            <a:ext cx="6108192" cy="521208"/>
          </a:xfrm>
          <a:prstGeom prst="roundRect">
            <a:avLst>
              <a:gd name="adj" fmla="val 17544"/>
            </a:avLst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230368" y="2487168"/>
            <a:ext cx="50292" cy="521208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385816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760720" y="25877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任务优先级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7379208" y="25374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Sat(v) = 邻居已使用的不同频点数</a:t>
            </a:r>
            <a:endParaRPr lang="en-US" sz="1170" dirty="0"/>
          </a:p>
        </p:txBody>
      </p:sp>
      <p:sp>
        <p:nvSpPr>
          <p:cNvPr id="41" name="Text 39"/>
          <p:cNvSpPr/>
          <p:nvPr/>
        </p:nvSpPr>
        <p:spPr>
          <a:xfrm>
            <a:off x="7379208" y="2777033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饱和度最大优先；其次比较干扰邻居数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30368" y="3063240"/>
            <a:ext cx="6108192" cy="521208"/>
          </a:xfrm>
          <a:prstGeom prst="roundRect">
            <a:avLst>
              <a:gd name="adj" fmla="val 17544"/>
            </a:avLst>
          </a:prstGeom>
          <a:solidFill>
            <a:srgbClr val="FDF7F1"/>
          </a:solidFill>
          <a:ln w="12700">
            <a:solidFill>
              <a:srgbClr val="FDF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230368" y="3063240"/>
            <a:ext cx="50292" cy="521208"/>
          </a:xfrm>
          <a:prstGeom prst="rect">
            <a:avLst/>
          </a:prstGeom>
          <a:solidFill>
            <a:srgbClr val="C97833"/>
          </a:solidFill>
          <a:ln w="12700">
            <a:solidFill>
              <a:srgbClr val="C97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385816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5760720" y="31638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可用频点检查</a:t>
            </a:r>
            <a:endParaRPr lang="en-US" sz="1240" dirty="0"/>
          </a:p>
        </p:txBody>
      </p:sp>
      <p:sp>
        <p:nvSpPr>
          <p:cNvPr id="46" name="Text 44"/>
          <p:cNvSpPr/>
          <p:nvPr/>
        </p:nvSpPr>
        <p:spPr>
          <a:xfrm>
            <a:off x="7379208" y="31135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 ∈ F(v)；满足同频 + 邻频保护规则</a:t>
            </a:r>
            <a:endParaRPr lang="en-US" sz="1170" dirty="0"/>
          </a:p>
        </p:txBody>
      </p:sp>
      <p:sp>
        <p:nvSpPr>
          <p:cNvPr id="47" name="Text 45"/>
          <p:cNvSpPr/>
          <p:nvPr/>
        </p:nvSpPr>
        <p:spPr>
          <a:xfrm>
            <a:off x="7379208" y="3353105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从设备允许的频点中寻找首个无冲突方案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30368" y="3639312"/>
            <a:ext cx="6108192" cy="521208"/>
          </a:xfrm>
          <a:prstGeom prst="roundRect">
            <a:avLst>
              <a:gd name="adj" fmla="val 17544"/>
            </a:avLst>
          </a:prstGeom>
          <a:solidFill>
            <a:srgbClr val="EEF8F2"/>
          </a:solidFill>
          <a:ln w="12700">
            <a:solidFill>
              <a:srgbClr val="EEF8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5230368" y="3639312"/>
            <a:ext cx="50292" cy="521208"/>
          </a:xfrm>
          <a:prstGeom prst="rect">
            <a:avLst/>
          </a:prstGeom>
          <a:solidFill>
            <a:srgbClr val="198268"/>
          </a:solidFill>
          <a:ln w="12700">
            <a:solidFill>
              <a:srgbClr val="1982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5385816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5760720" y="37398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生成初始解</a:t>
            </a:r>
            <a:endParaRPr lang="en-US" sz="1240" dirty="0"/>
          </a:p>
        </p:txBody>
      </p:sp>
      <p:sp>
        <p:nvSpPr>
          <p:cNvPr id="52" name="Text 50"/>
          <p:cNvSpPr/>
          <p:nvPr/>
        </p:nvSpPr>
        <p:spPr>
          <a:xfrm>
            <a:off x="7379208" y="368960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逐任务着色；允许远距离网系复用</a:t>
            </a:r>
            <a:endParaRPr lang="en-US" sz="1170" dirty="0"/>
          </a:p>
        </p:txBody>
      </p:sp>
      <p:sp>
        <p:nvSpPr>
          <p:cNvPr id="53" name="Text 51"/>
          <p:cNvSpPr/>
          <p:nvPr/>
        </p:nvSpPr>
        <p:spPr>
          <a:xfrm>
            <a:off x="7379208" y="3929177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找不到无冲突频点时选冲突较小者并记录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76072" y="4498848"/>
            <a:ext cx="110368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13816" y="4690872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923544" y="4695444"/>
            <a:ext cx="164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1316736" y="4654296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冲突修复与资源缺口分析</a:t>
            </a:r>
            <a:endParaRPr lang="en-US" sz="1640" dirty="0"/>
          </a:p>
        </p:txBody>
      </p:sp>
      <p:sp>
        <p:nvSpPr>
          <p:cNvPr id="58" name="Shape 56"/>
          <p:cNvSpPr/>
          <p:nvPr/>
        </p:nvSpPr>
        <p:spPr>
          <a:xfrm>
            <a:off x="877824" y="5129784"/>
            <a:ext cx="2112264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1016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941832" y="5186477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DSATUR 初解</a:t>
            </a:r>
            <a:endParaRPr lang="en-US" sz="1110" dirty="0"/>
          </a:p>
        </p:txBody>
      </p:sp>
      <p:sp>
        <p:nvSpPr>
          <p:cNvPr id="60" name="Text 58"/>
          <p:cNvSpPr/>
          <p:nvPr/>
        </p:nvSpPr>
        <p:spPr>
          <a:xfrm>
            <a:off x="918972" y="5394960"/>
            <a:ext cx="2029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生成网系频点分配</a:t>
            </a:r>
            <a:endParaRPr lang="en-US" sz="915" dirty="0"/>
          </a:p>
        </p:txBody>
      </p:sp>
      <p:sp>
        <p:nvSpPr>
          <p:cNvPr id="61" name="Shape 59"/>
          <p:cNvSpPr/>
          <p:nvPr/>
        </p:nvSpPr>
        <p:spPr>
          <a:xfrm>
            <a:off x="3035808" y="5367528"/>
            <a:ext cx="100584" cy="0"/>
          </a:xfrm>
          <a:prstGeom prst="line">
            <a:avLst/>
          </a:prstGeom>
          <a:noFill/>
          <a:ln w="2159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3218688" y="5129784"/>
            <a:ext cx="2386584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1016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3282696" y="5186477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局部冲突修复</a:t>
            </a:r>
            <a:endParaRPr lang="en-US" sz="1110" dirty="0"/>
          </a:p>
        </p:txBody>
      </p:sp>
      <p:sp>
        <p:nvSpPr>
          <p:cNvPr id="64" name="Text 62"/>
          <p:cNvSpPr/>
          <p:nvPr/>
        </p:nvSpPr>
        <p:spPr>
          <a:xfrm>
            <a:off x="3259836" y="5394960"/>
            <a:ext cx="2304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冲突任务重选频点 · 最多 6 轮</a:t>
            </a:r>
            <a:endParaRPr lang="en-US" sz="915" dirty="0"/>
          </a:p>
        </p:txBody>
      </p:sp>
      <p:sp>
        <p:nvSpPr>
          <p:cNvPr id="65" name="Shape 63"/>
          <p:cNvSpPr/>
          <p:nvPr/>
        </p:nvSpPr>
        <p:spPr>
          <a:xfrm>
            <a:off x="5650992" y="5367528"/>
            <a:ext cx="100584" cy="0"/>
          </a:xfrm>
          <a:prstGeom prst="line">
            <a:avLst/>
          </a:prstGeom>
          <a:noFill/>
          <a:ln w="2159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5833872" y="5129784"/>
            <a:ext cx="2450592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1016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5897880" y="5186477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局部精确重着色</a:t>
            </a:r>
            <a:endParaRPr lang="en-US" sz="1110" dirty="0"/>
          </a:p>
        </p:txBody>
      </p:sp>
      <p:sp>
        <p:nvSpPr>
          <p:cNvPr id="68" name="Text 66"/>
          <p:cNvSpPr/>
          <p:nvPr/>
        </p:nvSpPr>
        <p:spPr>
          <a:xfrm>
            <a:off x="5875020" y="5394960"/>
            <a:ext cx="2368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 6 冲突 / 40 任务 / 3 秒</a:t>
            </a:r>
            <a:endParaRPr lang="en-US" sz="915" dirty="0"/>
          </a:p>
        </p:txBody>
      </p:sp>
      <p:sp>
        <p:nvSpPr>
          <p:cNvPr id="69" name="Shape 67"/>
          <p:cNvSpPr/>
          <p:nvPr/>
        </p:nvSpPr>
        <p:spPr>
          <a:xfrm>
            <a:off x="8330184" y="5367528"/>
            <a:ext cx="100584" cy="0"/>
          </a:xfrm>
          <a:prstGeom prst="line">
            <a:avLst/>
          </a:prstGeom>
          <a:noFill/>
          <a:ln w="2159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8513064" y="5129784"/>
            <a:ext cx="2706624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1016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8577072" y="5186477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资源缺口分析</a:t>
            </a:r>
            <a:endParaRPr lang="en-US" sz="1110" dirty="0"/>
          </a:p>
        </p:txBody>
      </p:sp>
      <p:sp>
        <p:nvSpPr>
          <p:cNvPr id="72" name="Text 70"/>
          <p:cNvSpPr/>
          <p:nvPr/>
        </p:nvSpPr>
        <p:spPr>
          <a:xfrm>
            <a:off x="8554212" y="5394960"/>
            <a:ext cx="2624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最大团下界 · 子频段约束</a:t>
            </a:r>
            <a:endParaRPr lang="en-US" sz="915" dirty="0"/>
          </a:p>
        </p:txBody>
      </p:sp>
      <p:sp>
        <p:nvSpPr>
          <p:cNvPr id="73" name="Text 71"/>
          <p:cNvSpPr/>
          <p:nvPr/>
        </p:nvSpPr>
        <p:spPr>
          <a:xfrm>
            <a:off x="685800" y="5971032"/>
            <a:ext cx="10936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输出指标  </a:t>
            </a:r>
            <a:r>
              <a:rPr lang="en-US" sz="1100" b="1" dirty="0" err="1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网系频点</a:t>
            </a:r>
            <a:r>
              <a:rPr lang="en-US" sz="1100" b="1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· </a:t>
            </a:r>
            <a:r>
              <a:rPr lang="en-US" sz="1100" b="1" dirty="0" err="1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频率复用组</a:t>
            </a:r>
            <a:r>
              <a:rPr lang="en-US" sz="1100" b="1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· 同频/邻频冲突 · 未分配对象 · 频点缺口与扩容建议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94944" y="6327648"/>
            <a:ext cx="10789920" cy="0"/>
          </a:xfrm>
          <a:prstGeom prst="line">
            <a:avLst/>
          </a:prstGeom>
          <a:noFill/>
          <a:ln w="10160">
            <a:solidFill>
              <a:srgbClr val="CFDC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704088" y="6414516"/>
            <a:ext cx="10936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实现边界：采用距离/保护间隔规则近似干扰；DSATUR + 局部修复 + 受限回溯，非遗传算法，不保证全网全局最优。</a:t>
            </a:r>
            <a:endParaRPr lang="en-US" sz="980" dirty="0"/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5F238416-98BD-26B6-DC91-BE19C3A39273}"/>
              </a:ext>
            </a:extLst>
          </p:cNvPr>
          <p:cNvSpPr/>
          <p:nvPr/>
        </p:nvSpPr>
        <p:spPr>
          <a:xfrm flipV="1">
            <a:off x="1408176" y="2715312"/>
            <a:ext cx="525780" cy="361186"/>
          </a:xfrm>
          <a:prstGeom prst="line">
            <a:avLst/>
          </a:prstGeom>
          <a:noFill/>
          <a:ln w="30480">
            <a:solidFill>
              <a:srgbClr val="B4C4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9496" y="420624"/>
            <a:ext cx="68580" cy="539496"/>
          </a:xfrm>
          <a:prstGeom prst="roundRect">
            <a:avLst>
              <a:gd name="adj" fmla="val 133333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356616"/>
            <a:ext cx="6080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电台参数规划算法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665208" y="548640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SR-4.2.3    radio_params.py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1417320"/>
            <a:ext cx="4187952" cy="2898648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946904" y="1417320"/>
            <a:ext cx="6665976" cy="2898648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13816" y="1664208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96112" y="1673352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16736" y="162763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规划问题与优化目标</a:t>
            </a:r>
            <a:endParaRPr lang="en-US" sz="1640" dirty="0"/>
          </a:p>
        </p:txBody>
      </p:sp>
      <p:sp>
        <p:nvSpPr>
          <p:cNvPr id="13" name="Text 11"/>
          <p:cNvSpPr/>
          <p:nvPr/>
        </p:nvSpPr>
        <p:spPr>
          <a:xfrm>
            <a:off x="868680" y="2057400"/>
            <a:ext cx="3712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拓扑已确定：为每台电台选择合理的发射功率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1517904" y="2999232"/>
            <a:ext cx="1901952" cy="0"/>
          </a:xfrm>
          <a:prstGeom prst="line">
            <a:avLst/>
          </a:prstGeom>
          <a:noFill/>
          <a:ln w="33020">
            <a:solidFill>
              <a:srgbClr val="2474B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517904" y="3081528"/>
            <a:ext cx="1901952" cy="384048"/>
          </a:xfrm>
          <a:prstGeom prst="line">
            <a:avLst/>
          </a:prstGeom>
          <a:noFill/>
          <a:ln w="33020">
            <a:solidFill>
              <a:srgbClr val="168C8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143000" y="2816352"/>
            <a:ext cx="420624" cy="420624"/>
          </a:xfrm>
          <a:prstGeom prst="ellipse">
            <a:avLst/>
          </a:prstGeom>
          <a:solidFill>
            <a:srgbClr val="2474BC"/>
          </a:solidFill>
          <a:ln w="203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88720" y="2871216"/>
            <a:ext cx="329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3429000" y="2770632"/>
            <a:ext cx="420624" cy="420624"/>
          </a:xfrm>
          <a:prstGeom prst="ellipse">
            <a:avLst/>
          </a:prstGeom>
          <a:solidFill>
            <a:srgbClr val="C97833"/>
          </a:solidFill>
          <a:ln w="203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474720" y="2825496"/>
            <a:ext cx="329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3383280" y="3291840"/>
            <a:ext cx="420624" cy="420624"/>
          </a:xfrm>
          <a:prstGeom prst="ellipse">
            <a:avLst/>
          </a:prstGeom>
          <a:solidFill>
            <a:srgbClr val="198268"/>
          </a:solidFill>
          <a:ln w="203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429000" y="3346704"/>
            <a:ext cx="329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997964" y="268376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A–B：需 34 dBm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1965960" y="352044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A–C：需 37 dBm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22960" y="3840480"/>
            <a:ext cx="3694176" cy="329184"/>
          </a:xfrm>
          <a:prstGeom prst="roundRect">
            <a:avLst>
              <a:gd name="adj" fmla="val 27778"/>
            </a:avLst>
          </a:prstGeom>
          <a:solidFill>
            <a:srgbClr val="F2F7FD"/>
          </a:solidFill>
          <a:ln w="12700">
            <a:solidFill>
              <a:srgbClr val="F2F7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37260" y="3877056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示例：A 取较高下界 37 dBm → 匹配 40 dBm 档</a:t>
            </a:r>
            <a:endParaRPr lang="en-US" sz="1015" dirty="0"/>
          </a:p>
        </p:txBody>
      </p:sp>
      <p:sp>
        <p:nvSpPr>
          <p:cNvPr id="26" name="Shape 24"/>
          <p:cNvSpPr/>
          <p:nvPr/>
        </p:nvSpPr>
        <p:spPr>
          <a:xfrm>
            <a:off x="5202936" y="1664208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285232" y="1673352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05856" y="1627632"/>
            <a:ext cx="5605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1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链路预算反推 + 离散档位选择</a:t>
            </a:r>
            <a:endParaRPr lang="en-US" sz="1610" dirty="0"/>
          </a:p>
        </p:txBody>
      </p:sp>
      <p:sp>
        <p:nvSpPr>
          <p:cNvPr id="29" name="Text 27"/>
          <p:cNvSpPr/>
          <p:nvPr/>
        </p:nvSpPr>
        <p:spPr>
          <a:xfrm>
            <a:off x="5294376" y="20848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目标：链路余量达标时，尽可能降低有链路设备的总辐射功率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5230368" y="2468880"/>
            <a:ext cx="6108192" cy="512064"/>
          </a:xfrm>
          <a:prstGeom prst="roundRect">
            <a:avLst>
              <a:gd name="adj" fmla="val 17857"/>
            </a:avLst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230368" y="2468880"/>
            <a:ext cx="50292" cy="512064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376672" y="2542032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</a:t>
            </a:r>
            <a:endParaRPr lang="en-US" sz="1460" dirty="0"/>
          </a:p>
        </p:txBody>
      </p:sp>
      <p:sp>
        <p:nvSpPr>
          <p:cNvPr id="33" name="Text 31"/>
          <p:cNvSpPr/>
          <p:nvPr/>
        </p:nvSpPr>
        <p:spPr>
          <a:xfrm>
            <a:off x="5742432" y="256489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确定天线挂高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7360920" y="2519172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MAX / KEEP 两种规则</a:t>
            </a:r>
            <a:endParaRPr lang="en-US" sz="1160" dirty="0"/>
          </a:p>
        </p:txBody>
      </p:sp>
      <p:sp>
        <p:nvSpPr>
          <p:cNvPr id="35" name="Text 33"/>
          <p:cNvSpPr/>
          <p:nvPr/>
        </p:nvSpPr>
        <p:spPr>
          <a:xfrm>
            <a:off x="7360920" y="275691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先固定天线高度，再进行对应链路预算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230368" y="3044952"/>
            <a:ext cx="6108192" cy="512064"/>
          </a:xfrm>
          <a:prstGeom prst="roundRect">
            <a:avLst>
              <a:gd name="adj" fmla="val 17857"/>
            </a:avLst>
          </a:prstGeom>
          <a:solidFill>
            <a:srgbClr val="FDF7F1"/>
          </a:solidFill>
          <a:ln w="12700">
            <a:solidFill>
              <a:srgbClr val="FDF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230368" y="3044952"/>
            <a:ext cx="50292" cy="512064"/>
          </a:xfrm>
          <a:prstGeom prst="rect">
            <a:avLst/>
          </a:prstGeom>
          <a:solidFill>
            <a:srgbClr val="C97833"/>
          </a:solidFill>
          <a:ln w="12700">
            <a:solidFill>
              <a:srgbClr val="C97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376672" y="3118104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</a:t>
            </a:r>
            <a:endParaRPr lang="en-US" sz="1460" dirty="0"/>
          </a:p>
        </p:txBody>
      </p:sp>
      <p:sp>
        <p:nvSpPr>
          <p:cNvPr id="39" name="Text 37"/>
          <p:cNvSpPr/>
          <p:nvPr/>
        </p:nvSpPr>
        <p:spPr>
          <a:xfrm>
            <a:off x="5742432" y="3140964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反推功率下界</a:t>
            </a:r>
            <a:endParaRPr lang="en-US" sz="1210" dirty="0"/>
          </a:p>
        </p:txBody>
      </p:sp>
      <p:sp>
        <p:nvSpPr>
          <p:cNvPr id="40" name="Text 38"/>
          <p:cNvSpPr/>
          <p:nvPr/>
        </p:nvSpPr>
        <p:spPr>
          <a:xfrm>
            <a:off x="7360920" y="3095244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P_req = P_ref − (M_ref − M_req)</a:t>
            </a:r>
            <a:endParaRPr lang="en-US" sz="1160" dirty="0"/>
          </a:p>
        </p:txBody>
      </p:sp>
      <p:sp>
        <p:nvSpPr>
          <p:cNvPr id="41" name="Text 39"/>
          <p:cNvSpPr/>
          <p:nvPr/>
        </p:nvSpPr>
        <p:spPr>
          <a:xfrm>
            <a:off x="7360920" y="333298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以两端最大功率下的余量反推最低功率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5230368" y="3621024"/>
            <a:ext cx="6108192" cy="512064"/>
          </a:xfrm>
          <a:prstGeom prst="roundRect">
            <a:avLst>
              <a:gd name="adj" fmla="val 17857"/>
            </a:avLst>
          </a:prstGeom>
          <a:solidFill>
            <a:srgbClr val="EEF8F2"/>
          </a:solidFill>
          <a:ln w="12700">
            <a:solidFill>
              <a:srgbClr val="EEF8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230368" y="3621024"/>
            <a:ext cx="50292" cy="512064"/>
          </a:xfrm>
          <a:prstGeom prst="rect">
            <a:avLst/>
          </a:prstGeom>
          <a:solidFill>
            <a:srgbClr val="198268"/>
          </a:solidFill>
          <a:ln w="12700">
            <a:solidFill>
              <a:srgbClr val="1982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376672" y="3694176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</a:t>
            </a:r>
            <a:endParaRPr lang="en-US" sz="1460" dirty="0"/>
          </a:p>
        </p:txBody>
      </p:sp>
      <p:sp>
        <p:nvSpPr>
          <p:cNvPr id="45" name="Text 43"/>
          <p:cNvSpPr/>
          <p:nvPr/>
        </p:nvSpPr>
        <p:spPr>
          <a:xfrm>
            <a:off x="5742432" y="371703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匹配离散功率档</a:t>
            </a:r>
            <a:endParaRPr lang="en-US" sz="1210" dirty="0"/>
          </a:p>
        </p:txBody>
      </p:sp>
      <p:sp>
        <p:nvSpPr>
          <p:cNvPr id="46" name="Text 44"/>
          <p:cNvSpPr/>
          <p:nvPr/>
        </p:nvSpPr>
        <p:spPr>
          <a:xfrm>
            <a:off x="7360920" y="3671316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Pᵢ = snapUp(max P_req,ij)</a:t>
            </a:r>
            <a:endParaRPr lang="en-US" sz="1160" dirty="0"/>
          </a:p>
        </p:txBody>
      </p:sp>
      <p:sp>
        <p:nvSpPr>
          <p:cNvPr id="47" name="Text 45"/>
          <p:cNvSpPr/>
          <p:nvPr/>
        </p:nvSpPr>
        <p:spPr>
          <a:xfrm>
            <a:off x="7360920" y="390906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每台设备按最严链路需求向上选择可用档位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576072" y="4498848"/>
            <a:ext cx="110368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13816" y="4681728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96112" y="4690872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316736" y="46451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三套预置方案与有效计算范围</a:t>
            </a:r>
            <a:endParaRPr lang="en-US" sz="1640" dirty="0"/>
          </a:p>
        </p:txBody>
      </p:sp>
      <p:sp>
        <p:nvSpPr>
          <p:cNvPr id="52" name="Shape 50"/>
          <p:cNvSpPr/>
          <p:nvPr/>
        </p:nvSpPr>
        <p:spPr>
          <a:xfrm>
            <a:off x="877824" y="5093208"/>
            <a:ext cx="3310128" cy="530352"/>
          </a:xfrm>
          <a:prstGeom prst="roundRect">
            <a:avLst>
              <a:gd name="adj" fmla="val 17241"/>
            </a:avLst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77824" y="5093208"/>
            <a:ext cx="50292" cy="530352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042416" y="51435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5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地形地貌型  TERRAIN</a:t>
            </a:r>
            <a:endParaRPr lang="en-US" sz="1115" dirty="0"/>
          </a:p>
        </p:txBody>
      </p:sp>
      <p:sp>
        <p:nvSpPr>
          <p:cNvPr id="55" name="Text 53"/>
          <p:cNvSpPr/>
          <p:nvPr/>
        </p:nvSpPr>
        <p:spPr>
          <a:xfrm>
            <a:off x="1042416" y="5394960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余量 ≥ 10 dB  ·  最大挂高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434840" y="5093208"/>
            <a:ext cx="3310128" cy="530352"/>
          </a:xfrm>
          <a:prstGeom prst="roundRect">
            <a:avLst>
              <a:gd name="adj" fmla="val 17241"/>
            </a:avLst>
          </a:prstGeom>
          <a:solidFill>
            <a:srgbClr val="EEF8F2"/>
          </a:solidFill>
          <a:ln w="12700">
            <a:solidFill>
              <a:srgbClr val="EEF8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4434840" y="5093208"/>
            <a:ext cx="50292" cy="530352"/>
          </a:xfrm>
          <a:prstGeom prst="rect">
            <a:avLst/>
          </a:prstGeom>
          <a:solidFill>
            <a:srgbClr val="198268"/>
          </a:solidFill>
          <a:ln w="12700">
            <a:solidFill>
              <a:srgbClr val="1982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4599432" y="51435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5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任务需求型  MISSION</a:t>
            </a:r>
            <a:endParaRPr lang="en-US" sz="1115" dirty="0"/>
          </a:p>
        </p:txBody>
      </p:sp>
      <p:sp>
        <p:nvSpPr>
          <p:cNvPr id="59" name="Text 57"/>
          <p:cNvSpPr/>
          <p:nvPr/>
        </p:nvSpPr>
        <p:spPr>
          <a:xfrm>
            <a:off x="4599432" y="5394960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余量 ≥ 12 dB  ·  最大挂高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991856" y="5093208"/>
            <a:ext cx="3310128" cy="530352"/>
          </a:xfrm>
          <a:prstGeom prst="roundRect">
            <a:avLst>
              <a:gd name="adj" fmla="val 17241"/>
            </a:avLst>
          </a:prstGeom>
          <a:solidFill>
            <a:srgbClr val="FDF7F1"/>
          </a:solidFill>
          <a:ln w="12700">
            <a:solidFill>
              <a:srgbClr val="FDF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7991856" y="5093208"/>
            <a:ext cx="50292" cy="530352"/>
          </a:xfrm>
          <a:prstGeom prst="rect">
            <a:avLst/>
          </a:prstGeom>
          <a:solidFill>
            <a:srgbClr val="C97833"/>
          </a:solidFill>
          <a:ln w="12700">
            <a:solidFill>
              <a:srgbClr val="C97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156448" y="51435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5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干扰环境型  INTERFERENCE</a:t>
            </a:r>
            <a:endParaRPr lang="en-US" sz="1115" dirty="0"/>
          </a:p>
        </p:txBody>
      </p:sp>
      <p:sp>
        <p:nvSpPr>
          <p:cNvPr id="63" name="Text 61"/>
          <p:cNvSpPr/>
          <p:nvPr/>
        </p:nvSpPr>
        <p:spPr>
          <a:xfrm>
            <a:off x="8156448" y="5394960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余量 ≥ 6 dB  ·  保持挂高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85800" y="5961888"/>
            <a:ext cx="10972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输出指标  每台设备功率/挂高 · 链路余量 · 未达标链路 · 总辐射功率 · 多方案对比</a:t>
            </a:r>
            <a:endParaRPr lang="en-US" sz="1110" dirty="0"/>
          </a:p>
        </p:txBody>
      </p:sp>
      <p:sp>
        <p:nvSpPr>
          <p:cNvPr id="65" name="Shape 63"/>
          <p:cNvSpPr/>
          <p:nvPr/>
        </p:nvSpPr>
        <p:spPr>
          <a:xfrm>
            <a:off x="694944" y="6327648"/>
            <a:ext cx="10789920" cy="0"/>
          </a:xfrm>
          <a:prstGeom prst="line">
            <a:avLst/>
          </a:prstGeom>
          <a:noFill/>
          <a:ln w="10160">
            <a:solidFill>
              <a:srgbClr val="CFDC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704088" y="6414516"/>
            <a:ext cx="10936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实现边界：VUHF 挂高影响传播计算；HF 挂高未传入传播模型；倾角仅记录、不参与计算；并非三参数联合优化。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9496" y="420624"/>
            <a:ext cx="68580" cy="539496"/>
          </a:xfrm>
          <a:prstGeom prst="roundRect">
            <a:avLst>
              <a:gd name="adj" fmla="val 133333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356616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2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多目标网络方案优化</a:t>
            </a:r>
            <a:endParaRPr lang="en-US" sz="2820" dirty="0"/>
          </a:p>
        </p:txBody>
      </p:sp>
      <p:sp>
        <p:nvSpPr>
          <p:cNvPr id="7" name="Text 5"/>
          <p:cNvSpPr/>
          <p:nvPr/>
        </p:nvSpPr>
        <p:spPr>
          <a:xfrm>
            <a:off x="9509760" y="54498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SR-4.2.4   multi_objective.py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76072" y="1417320"/>
            <a:ext cx="4261104" cy="2898648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010912" y="1417320"/>
            <a:ext cx="6601968" cy="2898648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13816" y="1664208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05256" y="1669694"/>
            <a:ext cx="201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316736" y="1609344"/>
            <a:ext cx="3191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候选网络方案编码</a:t>
            </a:r>
            <a:endParaRPr lang="en-US" sz="1640" dirty="0"/>
          </a:p>
        </p:txBody>
      </p:sp>
      <p:sp>
        <p:nvSpPr>
          <p:cNvPr id="13" name="Text 11"/>
          <p:cNvSpPr/>
          <p:nvPr/>
        </p:nvSpPr>
        <p:spPr>
          <a:xfrm>
            <a:off x="868680" y="2029968"/>
            <a:ext cx="3685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5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优化变量：备用链路、中继的启用状态及余量档位</a:t>
            </a:r>
            <a:endParaRPr lang="en-US" sz="1065" dirty="0"/>
          </a:p>
        </p:txBody>
      </p:sp>
      <p:sp>
        <p:nvSpPr>
          <p:cNvPr id="14" name="Shape 12"/>
          <p:cNvSpPr/>
          <p:nvPr/>
        </p:nvSpPr>
        <p:spPr>
          <a:xfrm>
            <a:off x="1133856" y="2834640"/>
            <a:ext cx="859536" cy="0"/>
          </a:xfrm>
          <a:prstGeom prst="line">
            <a:avLst/>
          </a:prstGeom>
          <a:noFill/>
          <a:ln w="31750">
            <a:solidFill>
              <a:srgbClr val="B1C3D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993392" y="2834640"/>
            <a:ext cx="886968" cy="0"/>
          </a:xfrm>
          <a:prstGeom prst="line">
            <a:avLst/>
          </a:prstGeom>
          <a:noFill/>
          <a:ln w="31750">
            <a:solidFill>
              <a:srgbClr val="B1C3D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880360" y="2834640"/>
            <a:ext cx="1060704" cy="0"/>
          </a:xfrm>
          <a:prstGeom prst="line">
            <a:avLst/>
          </a:prstGeom>
          <a:noFill/>
          <a:ln w="31750">
            <a:solidFill>
              <a:srgbClr val="B1C3D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133856" y="2834640"/>
            <a:ext cx="649224" cy="0"/>
          </a:xfrm>
          <a:prstGeom prst="line">
            <a:avLst/>
          </a:prstGeom>
          <a:noFill/>
          <a:ln w="26670">
            <a:solidFill>
              <a:srgbClr val="19826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920240" y="2441448"/>
            <a:ext cx="960120" cy="393192"/>
          </a:xfrm>
          <a:prstGeom prst="line">
            <a:avLst/>
          </a:prstGeom>
          <a:noFill/>
          <a:ln w="26670">
            <a:solidFill>
              <a:srgbClr val="19826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37260" y="2638044"/>
            <a:ext cx="393192" cy="393192"/>
          </a:xfrm>
          <a:prstGeom prst="ellipse">
            <a:avLst/>
          </a:prstGeom>
          <a:solidFill>
            <a:srgbClr val="2474B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96696" y="270205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1796796" y="2638044"/>
            <a:ext cx="393192" cy="393192"/>
          </a:xfrm>
          <a:prstGeom prst="ellipse">
            <a:avLst/>
          </a:prstGeom>
          <a:solidFill>
            <a:srgbClr val="C978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856232" y="270205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2683764" y="2638044"/>
            <a:ext cx="393192" cy="393192"/>
          </a:xfrm>
          <a:prstGeom prst="ellipse">
            <a:avLst/>
          </a:prstGeom>
          <a:solidFill>
            <a:srgbClr val="2474B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2743200" y="270205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3744468" y="2638044"/>
            <a:ext cx="393192" cy="393192"/>
          </a:xfrm>
          <a:prstGeom prst="ellipse">
            <a:avLst/>
          </a:prstGeom>
          <a:solidFill>
            <a:srgbClr val="2474B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803904" y="270205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1005840" y="31272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虚线 = 可选备份链路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905256" y="3438144"/>
            <a:ext cx="704088" cy="512064"/>
          </a:xfrm>
          <a:prstGeom prst="roundRect">
            <a:avLst>
              <a:gd name="adj" fmla="val 17857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41832" y="346557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30" dirty="0"/>
          </a:p>
        </p:txBody>
      </p:sp>
      <p:sp>
        <p:nvSpPr>
          <p:cNvPr id="30" name="Text 28"/>
          <p:cNvSpPr/>
          <p:nvPr/>
        </p:nvSpPr>
        <p:spPr>
          <a:xfrm>
            <a:off x="905256" y="3794760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备用①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73352" y="3438144"/>
            <a:ext cx="704088" cy="512064"/>
          </a:xfrm>
          <a:prstGeom prst="roundRect">
            <a:avLst>
              <a:gd name="adj" fmla="val 1785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709928" y="346557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530" dirty="0"/>
          </a:p>
        </p:txBody>
      </p:sp>
      <p:sp>
        <p:nvSpPr>
          <p:cNvPr id="33" name="Text 31"/>
          <p:cNvSpPr/>
          <p:nvPr/>
        </p:nvSpPr>
        <p:spPr>
          <a:xfrm>
            <a:off x="1673352" y="3794760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备用②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41448" y="3438144"/>
            <a:ext cx="704088" cy="512064"/>
          </a:xfrm>
          <a:prstGeom prst="roundRect">
            <a:avLst>
              <a:gd name="adj" fmla="val 17857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2478024" y="346557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30" dirty="0"/>
          </a:p>
        </p:txBody>
      </p:sp>
      <p:sp>
        <p:nvSpPr>
          <p:cNvPr id="36" name="Text 34"/>
          <p:cNvSpPr/>
          <p:nvPr/>
        </p:nvSpPr>
        <p:spPr>
          <a:xfrm>
            <a:off x="2441448" y="3794760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中继①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9544" y="3438144"/>
            <a:ext cx="704088" cy="512064"/>
          </a:xfrm>
          <a:prstGeom prst="roundRect">
            <a:avLst>
              <a:gd name="adj" fmla="val 1785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246120" y="346557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530" dirty="0"/>
          </a:p>
        </p:txBody>
      </p:sp>
      <p:sp>
        <p:nvSpPr>
          <p:cNvPr id="39" name="Text 37"/>
          <p:cNvSpPr/>
          <p:nvPr/>
        </p:nvSpPr>
        <p:spPr>
          <a:xfrm>
            <a:off x="3209544" y="3794760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中继②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977640" y="3438144"/>
            <a:ext cx="704088" cy="512064"/>
          </a:xfrm>
          <a:prstGeom prst="roundRect">
            <a:avLst>
              <a:gd name="adj" fmla="val 17857"/>
            </a:avLst>
          </a:prstGeom>
          <a:solidFill>
            <a:srgbClr val="FFF2E6"/>
          </a:solidFill>
          <a:ln w="12700">
            <a:solidFill>
              <a:srgbClr val="FFF2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014216" y="346557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30" dirty="0"/>
          </a:p>
        </p:txBody>
      </p:sp>
      <p:sp>
        <p:nvSpPr>
          <p:cNvPr id="42" name="Text 40"/>
          <p:cNvSpPr/>
          <p:nvPr/>
        </p:nvSpPr>
        <p:spPr>
          <a:xfrm>
            <a:off x="3977640" y="3794760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余量档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23544" y="4050792"/>
            <a:ext cx="3703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5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= 选用  ·  0 = 不选  ·  余量档位 2 → 10 dB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5257800" y="1664208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349240" y="1669694"/>
            <a:ext cx="201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5760720" y="1609344"/>
            <a:ext cx="5477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三目标评价与硬约束</a:t>
            </a:r>
            <a:endParaRPr lang="en-US" sz="1640" dirty="0"/>
          </a:p>
        </p:txBody>
      </p:sp>
      <p:sp>
        <p:nvSpPr>
          <p:cNvPr id="47" name="Text 45"/>
          <p:cNvSpPr/>
          <p:nvPr/>
        </p:nvSpPr>
        <p:spPr>
          <a:xfrm>
            <a:off x="5303520" y="201168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对每套候选拓扑独立计算：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5257800" y="2331720"/>
            <a:ext cx="6108192" cy="475488"/>
          </a:xfrm>
          <a:prstGeom prst="roundRect">
            <a:avLst>
              <a:gd name="adj" fmla="val 19231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5257800" y="2331720"/>
            <a:ext cx="50292" cy="475488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5431536" y="240487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最大连通率</a:t>
            </a:r>
            <a:endParaRPr lang="en-US" sz="1140" dirty="0"/>
          </a:p>
        </p:txBody>
      </p:sp>
      <p:sp>
        <p:nvSpPr>
          <p:cNvPr id="51" name="Text 49"/>
          <p:cNvSpPr/>
          <p:nvPr/>
        </p:nvSpPr>
        <p:spPr>
          <a:xfrm>
            <a:off x="6903720" y="2368296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5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= 可达通联 / 全部通联</a:t>
            </a:r>
            <a:endParaRPr lang="en-US" sz="1115" dirty="0"/>
          </a:p>
        </p:txBody>
      </p:sp>
      <p:sp>
        <p:nvSpPr>
          <p:cNvPr id="52" name="Text 50"/>
          <p:cNvSpPr/>
          <p:nvPr/>
        </p:nvSpPr>
        <p:spPr>
          <a:xfrm>
            <a:off x="6903720" y="2596896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满足更多业务的端到端连通</a:t>
            </a:r>
            <a:endParaRPr lang="en-US" sz="910" dirty="0"/>
          </a:p>
        </p:txBody>
      </p:sp>
      <p:sp>
        <p:nvSpPr>
          <p:cNvPr id="53" name="Shape 51"/>
          <p:cNvSpPr/>
          <p:nvPr/>
        </p:nvSpPr>
        <p:spPr>
          <a:xfrm>
            <a:off x="5257800" y="2871216"/>
            <a:ext cx="6108192" cy="475488"/>
          </a:xfrm>
          <a:prstGeom prst="roundRect">
            <a:avLst>
              <a:gd name="adj" fmla="val 19231"/>
            </a:avLst>
          </a:prstGeom>
          <a:solidFill>
            <a:srgbClr val="FEF5ED"/>
          </a:solidFill>
          <a:ln w="12700">
            <a:solidFill>
              <a:srgbClr val="FEF5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5257800" y="2871216"/>
            <a:ext cx="50292" cy="475488"/>
          </a:xfrm>
          <a:prstGeom prst="rect">
            <a:avLst/>
          </a:prstGeom>
          <a:solidFill>
            <a:srgbClr val="C97833"/>
          </a:solidFill>
          <a:ln w="12700">
            <a:solidFill>
              <a:srgbClr val="C97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5431536" y="294436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最小总功率</a:t>
            </a:r>
            <a:endParaRPr lang="en-US" sz="1140" dirty="0"/>
          </a:p>
        </p:txBody>
      </p:sp>
      <p:sp>
        <p:nvSpPr>
          <p:cNvPr id="56" name="Text 54"/>
          <p:cNvSpPr/>
          <p:nvPr/>
        </p:nvSpPr>
        <p:spPr>
          <a:xfrm>
            <a:off x="6903720" y="290779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5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 = Σ 设备发射功率 (W)</a:t>
            </a:r>
            <a:endParaRPr lang="en-US" sz="1115" dirty="0"/>
          </a:p>
        </p:txBody>
      </p:sp>
      <p:sp>
        <p:nvSpPr>
          <p:cNvPr id="57" name="Text 55"/>
          <p:cNvSpPr/>
          <p:nvPr/>
        </p:nvSpPr>
        <p:spPr>
          <a:xfrm>
            <a:off x="6903720" y="3136392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按链路余量反推最低离散档位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5257800" y="3410712"/>
            <a:ext cx="6108192" cy="475488"/>
          </a:xfrm>
          <a:prstGeom prst="roundRect">
            <a:avLst>
              <a:gd name="adj" fmla="val 19231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5257800" y="3410712"/>
            <a:ext cx="50292" cy="475488"/>
          </a:xfrm>
          <a:prstGeom prst="rect">
            <a:avLst/>
          </a:prstGeom>
          <a:solidFill>
            <a:srgbClr val="198268"/>
          </a:solidFill>
          <a:ln w="12700">
            <a:solidFill>
              <a:srgbClr val="1982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5431536" y="348386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最大抗毁性</a:t>
            </a:r>
            <a:endParaRPr lang="en-US" sz="1140" dirty="0"/>
          </a:p>
        </p:txBody>
      </p:sp>
      <p:sp>
        <p:nvSpPr>
          <p:cNvPr id="61" name="Text 59"/>
          <p:cNvSpPr/>
          <p:nvPr/>
        </p:nvSpPr>
        <p:spPr>
          <a:xfrm>
            <a:off x="6903720" y="344728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5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 = 单边中断后的最坏必要通联率</a:t>
            </a:r>
            <a:endParaRPr lang="en-US" sz="1115" dirty="0"/>
          </a:p>
        </p:txBody>
      </p:sp>
      <p:sp>
        <p:nvSpPr>
          <p:cNvPr id="62" name="Text 60"/>
          <p:cNvSpPr/>
          <p:nvPr/>
        </p:nvSpPr>
        <p:spPr>
          <a:xfrm>
            <a:off x="6903720" y="3675888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Tarjan 求桥，统计最坏故障影响</a:t>
            </a:r>
            <a:endParaRPr lang="en-US" sz="910" dirty="0"/>
          </a:p>
        </p:txBody>
      </p:sp>
      <p:sp>
        <p:nvSpPr>
          <p:cNvPr id="63" name="Shape 61"/>
          <p:cNvSpPr/>
          <p:nvPr/>
        </p:nvSpPr>
        <p:spPr>
          <a:xfrm>
            <a:off x="5257800" y="3986784"/>
            <a:ext cx="6108192" cy="228600"/>
          </a:xfrm>
          <a:prstGeom prst="roundRect">
            <a:avLst>
              <a:gd name="adj" fmla="val 40000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5367528" y="4000500"/>
            <a:ext cx="5916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硬约束  必要通联 100%  ·  最坏抗毁性 ≥ 0.90  ·  中继链长 ≤ 2</a:t>
            </a:r>
            <a:endParaRPr lang="en-US" sz="1040" dirty="0"/>
          </a:p>
        </p:txBody>
      </p:sp>
      <p:sp>
        <p:nvSpPr>
          <p:cNvPr id="65" name="Shape 63"/>
          <p:cNvSpPr/>
          <p:nvPr/>
        </p:nvSpPr>
        <p:spPr>
          <a:xfrm>
            <a:off x="576072" y="4498848"/>
            <a:ext cx="110368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813816" y="4690872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905256" y="4696358"/>
            <a:ext cx="201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20" dirty="0"/>
          </a:p>
        </p:txBody>
      </p:sp>
      <p:sp>
        <p:nvSpPr>
          <p:cNvPr id="68" name="Text 66"/>
          <p:cNvSpPr/>
          <p:nvPr/>
        </p:nvSpPr>
        <p:spPr>
          <a:xfrm>
            <a:off x="1316736" y="4636008"/>
            <a:ext cx="8723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NSGA-II 进化求解与规划闭环</a:t>
            </a:r>
            <a:endParaRPr lang="en-US" sz="1640" dirty="0"/>
          </a:p>
        </p:txBody>
      </p:sp>
      <p:sp>
        <p:nvSpPr>
          <p:cNvPr id="69" name="Shape 67"/>
          <p:cNvSpPr/>
          <p:nvPr/>
        </p:nvSpPr>
        <p:spPr>
          <a:xfrm>
            <a:off x="877824" y="5129784"/>
            <a:ext cx="1984248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889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923544" y="5190134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生成候选染色体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905256" y="5389474"/>
            <a:ext cx="1929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链路 / 中继 / 余量档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880360" y="5376672"/>
            <a:ext cx="105156" cy="0"/>
          </a:xfrm>
          <a:prstGeom prst="line">
            <a:avLst/>
          </a:prstGeom>
          <a:noFill/>
          <a:ln w="1905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3035808" y="5129784"/>
            <a:ext cx="1993392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889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3081528" y="519013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拓扑修复与评价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3063240" y="5389474"/>
            <a:ext cx="1938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端口约束 · Tarjan 求桥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047488" y="5376672"/>
            <a:ext cx="105156" cy="0"/>
          </a:xfrm>
          <a:prstGeom prst="line">
            <a:avLst/>
          </a:prstGeom>
          <a:noFill/>
          <a:ln w="1905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5202936" y="5129784"/>
            <a:ext cx="1993392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889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5248656" y="519013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NSGA-II 迭代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230368" y="5389474"/>
            <a:ext cx="1938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非支配排序 · 交叉变异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214616" y="5376672"/>
            <a:ext cx="105156" cy="0"/>
          </a:xfrm>
          <a:prstGeom prst="line">
            <a:avLst/>
          </a:prstGeom>
          <a:noFill/>
          <a:ln w="1905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7370064" y="5129784"/>
            <a:ext cx="1965960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889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7415784" y="519013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Pareto 候选解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7397496" y="5389474"/>
            <a:ext cx="19110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连通率 / 功率 / 抗毁性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354312" y="5376672"/>
            <a:ext cx="96012" cy="0"/>
          </a:xfrm>
          <a:prstGeom prst="line">
            <a:avLst/>
          </a:prstGeom>
          <a:noFill/>
          <a:ln w="1905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>
            <a:off x="9500616" y="5129784"/>
            <a:ext cx="1783080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8890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4"/>
          <p:cNvSpPr/>
          <p:nvPr/>
        </p:nvSpPr>
        <p:spPr>
          <a:xfrm>
            <a:off x="9546336" y="519013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重新规划校验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9528048" y="5389474"/>
            <a:ext cx="17282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 · 频率 · 功率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85800" y="5980176"/>
            <a:ext cx="10899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输出指标  可行解及权衡方案  ·  新增中继与备份链路  ·  连通率  ·  抗毁性  ·  总功率</a:t>
            </a:r>
            <a:endParaRPr lang="en-US" sz="1090" dirty="0"/>
          </a:p>
        </p:txBody>
      </p:sp>
      <p:sp>
        <p:nvSpPr>
          <p:cNvPr id="89" name="Shape 87"/>
          <p:cNvSpPr/>
          <p:nvPr/>
        </p:nvSpPr>
        <p:spPr>
          <a:xfrm>
            <a:off x="694944" y="6327648"/>
            <a:ext cx="10789920" cy="0"/>
          </a:xfrm>
          <a:prstGeom prst="line">
            <a:avLst/>
          </a:prstGeom>
          <a:noFill/>
          <a:ln w="10160">
            <a:solidFill>
              <a:srgbClr val="CFDC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Text 88"/>
          <p:cNvSpPr/>
          <p:nvPr/>
        </p:nvSpPr>
        <p:spPr>
          <a:xfrm>
            <a:off x="704088" y="6419088"/>
            <a:ext cx="10945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实现边界：NSGA-II 直接优化 3 个目标；频率冲突在优化后单独检查，候选空间受预筛选限制，不保证全局最优。</a:t>
            </a:r>
            <a:endParaRPr lang="en-US" sz="950" dirty="0"/>
          </a:p>
        </p:txBody>
      </p:sp>
      <p:sp>
        <p:nvSpPr>
          <p:cNvPr id="92" name="Shape 16">
            <a:extLst>
              <a:ext uri="{FF2B5EF4-FFF2-40B4-BE49-F238E27FC236}">
                <a16:creationId xmlns:a16="http://schemas.microsoft.com/office/drawing/2014/main" id="{97E69929-8DE5-2CE3-E21F-DB1114E648E4}"/>
              </a:ext>
            </a:extLst>
          </p:cNvPr>
          <p:cNvSpPr/>
          <p:nvPr/>
        </p:nvSpPr>
        <p:spPr>
          <a:xfrm flipV="1">
            <a:off x="1229868" y="2441448"/>
            <a:ext cx="653796" cy="210312"/>
          </a:xfrm>
          <a:prstGeom prst="line">
            <a:avLst/>
          </a:prstGeom>
          <a:noFill/>
          <a:ln w="26670">
            <a:solidFill>
              <a:srgbClr val="19826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48CC2511-57A6-BEC2-872D-7B1EEEDC1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985" y="208260"/>
            <a:ext cx="2828575" cy="10923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9496" y="420624"/>
            <a:ext cx="68580" cy="539496"/>
          </a:xfrm>
          <a:prstGeom prst="roundRect">
            <a:avLst>
              <a:gd name="adj" fmla="val 133333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356616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2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电磁干扰影响分析与抗干扰处置</a:t>
            </a:r>
            <a:endParaRPr lang="en-US" sz="2820" dirty="0"/>
          </a:p>
        </p:txBody>
      </p:sp>
      <p:sp>
        <p:nvSpPr>
          <p:cNvPr id="7" name="Text 5"/>
          <p:cNvSpPr/>
          <p:nvPr/>
        </p:nvSpPr>
        <p:spPr>
          <a:xfrm>
            <a:off x="9509760" y="54498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SR-4.2.5   interference.py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76072" y="1417320"/>
            <a:ext cx="4297680" cy="2898648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029200" y="1417320"/>
            <a:ext cx="6583680" cy="2898648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13816" y="1664208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05256" y="1669694"/>
            <a:ext cx="201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316736" y="1609344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干扰源与受扰链路建模</a:t>
            </a:r>
            <a:endParaRPr lang="en-US" sz="1640" dirty="0"/>
          </a:p>
        </p:txBody>
      </p:sp>
      <p:sp>
        <p:nvSpPr>
          <p:cNvPr id="13" name="Text 11"/>
          <p:cNvSpPr/>
          <p:nvPr/>
        </p:nvSpPr>
        <p:spPr>
          <a:xfrm>
            <a:off x="868680" y="2048256"/>
            <a:ext cx="3739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输入：干扰源位置 / 功率 / 频率 / 带宽 / 方位 / 占空比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864108" y="2793492"/>
            <a:ext cx="502920" cy="502920"/>
          </a:xfrm>
          <a:prstGeom prst="ellipse">
            <a:avLst/>
          </a:prstGeom>
          <a:solidFill>
            <a:srgbClr val="2474B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899916" y="2793492"/>
            <a:ext cx="502920" cy="502920"/>
          </a:xfrm>
          <a:prstGeom prst="ellipse">
            <a:avLst/>
          </a:prstGeom>
          <a:solidFill>
            <a:srgbClr val="2474B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340864" y="2276856"/>
            <a:ext cx="493776" cy="493776"/>
          </a:xfrm>
          <a:prstGeom prst="ellipse">
            <a:avLst/>
          </a:prstGeom>
          <a:solidFill>
            <a:srgbClr val="C978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32688" y="293522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59352" y="2935224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50592" y="24185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1371600" y="3044952"/>
            <a:ext cx="2514600" cy="0"/>
          </a:xfrm>
          <a:prstGeom prst="line">
            <a:avLst/>
          </a:prstGeom>
          <a:noFill/>
          <a:ln w="36830">
            <a:solidFill>
              <a:srgbClr val="2474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734056" y="2615184"/>
            <a:ext cx="1207008" cy="310896"/>
          </a:xfrm>
          <a:prstGeom prst="line">
            <a:avLst/>
          </a:prstGeom>
          <a:noFill/>
          <a:ln w="27940">
            <a:solidFill>
              <a:srgbClr val="C97833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039112" y="31089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期望信号  S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3054096" y="24414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干扰功率 I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832104" y="3630168"/>
            <a:ext cx="3776472" cy="429768"/>
          </a:xfrm>
          <a:prstGeom prst="roundRect">
            <a:avLst>
              <a:gd name="adj" fmla="val 21277"/>
            </a:avLst>
          </a:prstGeom>
          <a:solidFill>
            <a:srgbClr val="F1F6FC"/>
          </a:solidFill>
          <a:ln w="12700">
            <a:solidFill>
              <a:srgbClr val="F1F6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46404" y="3717036"/>
            <a:ext cx="3547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5" b="1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Iₖ = Pₖ + Gₖ − Lₖᵣ + Gᵣ − FDR + 10log₁₀δₖ</a:t>
            </a:r>
            <a:endParaRPr lang="en-US" sz="1065" dirty="0"/>
          </a:p>
        </p:txBody>
      </p:sp>
      <p:sp>
        <p:nvSpPr>
          <p:cNvPr id="26" name="Shape 24"/>
          <p:cNvSpPr/>
          <p:nvPr/>
        </p:nvSpPr>
        <p:spPr>
          <a:xfrm>
            <a:off x="5257800" y="1664208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349240" y="1669694"/>
            <a:ext cx="201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760720" y="1609344"/>
            <a:ext cx="5522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SINR 评估与受扰等级</a:t>
            </a:r>
            <a:endParaRPr lang="en-US" sz="1640" dirty="0"/>
          </a:p>
        </p:txBody>
      </p:sp>
      <p:sp>
        <p:nvSpPr>
          <p:cNvPr id="29" name="Text 27"/>
          <p:cNvSpPr/>
          <p:nvPr/>
        </p:nvSpPr>
        <p:spPr>
          <a:xfrm>
            <a:off x="5321808" y="2039112"/>
            <a:ext cx="5907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两个端点分别作为接收机计算，采用较差一端评估整条链路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76088" y="2386584"/>
            <a:ext cx="6071616" cy="475488"/>
          </a:xfrm>
          <a:prstGeom prst="roundRect">
            <a:avLst>
              <a:gd name="adj" fmla="val 19231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276088" y="2386584"/>
            <a:ext cx="50292" cy="475488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431536" y="24643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</a:t>
            </a:r>
            <a:endParaRPr lang="en-US" sz="1380" dirty="0"/>
          </a:p>
        </p:txBody>
      </p:sp>
      <p:sp>
        <p:nvSpPr>
          <p:cNvPr id="33" name="Text 31"/>
          <p:cNvSpPr/>
          <p:nvPr/>
        </p:nvSpPr>
        <p:spPr>
          <a:xfrm>
            <a:off x="5779008" y="248259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干扰功率叠加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7287768" y="243687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I_total = 10log₁₀ Σ10^(Iₖ/10)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7287768" y="2652674"/>
            <a:ext cx="39136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多干扰源先在线性功率域求和</a:t>
            </a:r>
            <a:endParaRPr lang="en-US" sz="905" dirty="0"/>
          </a:p>
        </p:txBody>
      </p:sp>
      <p:sp>
        <p:nvSpPr>
          <p:cNvPr id="36" name="Shape 34"/>
          <p:cNvSpPr/>
          <p:nvPr/>
        </p:nvSpPr>
        <p:spPr>
          <a:xfrm>
            <a:off x="5276088" y="2926080"/>
            <a:ext cx="6071616" cy="475488"/>
          </a:xfrm>
          <a:prstGeom prst="roundRect">
            <a:avLst>
              <a:gd name="adj" fmla="val 19231"/>
            </a:avLst>
          </a:prstGeom>
          <a:solidFill>
            <a:srgbClr val="FEF5ED"/>
          </a:solidFill>
          <a:ln w="12700">
            <a:solidFill>
              <a:srgbClr val="FEF5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276088" y="2926080"/>
            <a:ext cx="50292" cy="475488"/>
          </a:xfrm>
          <a:prstGeom prst="rect">
            <a:avLst/>
          </a:prstGeom>
          <a:solidFill>
            <a:srgbClr val="C97833"/>
          </a:solidFill>
          <a:ln w="12700">
            <a:solidFill>
              <a:srgbClr val="C97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431536" y="30038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</a:t>
            </a:r>
            <a:endParaRPr lang="en-US" sz="1380" dirty="0"/>
          </a:p>
        </p:txBody>
      </p:sp>
      <p:sp>
        <p:nvSpPr>
          <p:cNvPr id="39" name="Text 37"/>
          <p:cNvSpPr/>
          <p:nvPr/>
        </p:nvSpPr>
        <p:spPr>
          <a:xfrm>
            <a:off x="5779008" y="302209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SINR 与余量</a:t>
            </a:r>
            <a:endParaRPr lang="en-US" sz="1170" dirty="0"/>
          </a:p>
        </p:txBody>
      </p:sp>
      <p:sp>
        <p:nvSpPr>
          <p:cNvPr id="40" name="Text 38"/>
          <p:cNvSpPr/>
          <p:nvPr/>
        </p:nvSpPr>
        <p:spPr>
          <a:xfrm>
            <a:off x="7287768" y="297637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SINR = S − 10log₁₀ (N_lin + I_lin)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7287768" y="3192170"/>
            <a:ext cx="39136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比较干扰前 SNR 与干扰后 SINR</a:t>
            </a:r>
            <a:endParaRPr lang="en-US" sz="905" dirty="0"/>
          </a:p>
        </p:txBody>
      </p:sp>
      <p:sp>
        <p:nvSpPr>
          <p:cNvPr id="42" name="Shape 40"/>
          <p:cNvSpPr/>
          <p:nvPr/>
        </p:nvSpPr>
        <p:spPr>
          <a:xfrm>
            <a:off x="5276088" y="3465576"/>
            <a:ext cx="6071616" cy="475488"/>
          </a:xfrm>
          <a:prstGeom prst="roundRect">
            <a:avLst>
              <a:gd name="adj" fmla="val 19231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276088" y="3465576"/>
            <a:ext cx="50292" cy="475488"/>
          </a:xfrm>
          <a:prstGeom prst="rect">
            <a:avLst/>
          </a:prstGeom>
          <a:solidFill>
            <a:srgbClr val="198268"/>
          </a:solidFill>
          <a:ln w="12700">
            <a:solidFill>
              <a:srgbClr val="1982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431536" y="35433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</a:t>
            </a:r>
            <a:endParaRPr lang="en-US" sz="1380" dirty="0"/>
          </a:p>
        </p:txBody>
      </p:sp>
      <p:sp>
        <p:nvSpPr>
          <p:cNvPr id="45" name="Text 43"/>
          <p:cNvSpPr/>
          <p:nvPr/>
        </p:nvSpPr>
        <p:spPr>
          <a:xfrm>
            <a:off x="5779008" y="356158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链路受扰分级</a:t>
            </a:r>
            <a:endParaRPr lang="en-US" sz="1170" dirty="0"/>
          </a:p>
        </p:txBody>
      </p:sp>
      <p:sp>
        <p:nvSpPr>
          <p:cNvPr id="46" name="Text 44"/>
          <p:cNvSpPr/>
          <p:nvPr/>
        </p:nvSpPr>
        <p:spPr>
          <a:xfrm>
            <a:off x="7287768" y="3515868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032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SEVERE / MODERATE / MINOR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7287768" y="3731666"/>
            <a:ext cx="39136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状态降级或 SINR 下降决定严重程度</a:t>
            </a:r>
            <a:endParaRPr lang="en-US" sz="905" dirty="0"/>
          </a:p>
        </p:txBody>
      </p:sp>
      <p:sp>
        <p:nvSpPr>
          <p:cNvPr id="48" name="Shape 46"/>
          <p:cNvSpPr/>
          <p:nvPr/>
        </p:nvSpPr>
        <p:spPr>
          <a:xfrm>
            <a:off x="5276088" y="4023360"/>
            <a:ext cx="6071616" cy="192024"/>
          </a:xfrm>
          <a:prstGeom prst="roundRect">
            <a:avLst>
              <a:gd name="adj" fmla="val 47619"/>
            </a:avLst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349240" y="4023360"/>
            <a:ext cx="5943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5" dirty="0">
                <a:solidFill>
                  <a:srgbClr val="14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分级口径：严重=FAULT/下降≥20dB；中度=状态降级；轻微=下降≥3dB</a:t>
            </a:r>
            <a:endParaRPr lang="en-US" sz="925" dirty="0"/>
          </a:p>
        </p:txBody>
      </p:sp>
      <p:sp>
        <p:nvSpPr>
          <p:cNvPr id="50" name="Shape 48"/>
          <p:cNvSpPr/>
          <p:nvPr/>
        </p:nvSpPr>
        <p:spPr>
          <a:xfrm>
            <a:off x="576072" y="4498848"/>
            <a:ext cx="110368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13816" y="4690872"/>
            <a:ext cx="384048" cy="320040"/>
          </a:xfrm>
          <a:prstGeom prst="roundRect">
            <a:avLst>
              <a:gd name="adj" fmla="val 28571"/>
            </a:avLst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905256" y="4696358"/>
            <a:ext cx="201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1316736" y="4636008"/>
            <a:ext cx="938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629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五类抗干扰措施与效果预评估</a:t>
            </a:r>
            <a:endParaRPr lang="en-US" sz="1640" dirty="0"/>
          </a:p>
        </p:txBody>
      </p:sp>
      <p:sp>
        <p:nvSpPr>
          <p:cNvPr id="54" name="Shape 52"/>
          <p:cNvSpPr/>
          <p:nvPr/>
        </p:nvSpPr>
        <p:spPr>
          <a:xfrm>
            <a:off x="868680" y="5129784"/>
            <a:ext cx="1938528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9525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68680" y="5129784"/>
            <a:ext cx="50292" cy="493776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978408" y="519379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信道切换</a:t>
            </a:r>
            <a:endParaRPr lang="en-US" sz="1080" dirty="0"/>
          </a:p>
        </p:txBody>
      </p:sp>
      <p:sp>
        <p:nvSpPr>
          <p:cNvPr id="57" name="Text 55"/>
          <p:cNvSpPr/>
          <p:nvPr/>
        </p:nvSpPr>
        <p:spPr>
          <a:xfrm>
            <a:off x="914400" y="539038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邻近 ±3 候选信道</a:t>
            </a:r>
            <a:endParaRPr lang="en-US" sz="915" dirty="0"/>
          </a:p>
        </p:txBody>
      </p:sp>
      <p:sp>
        <p:nvSpPr>
          <p:cNvPr id="58" name="Shape 56"/>
          <p:cNvSpPr/>
          <p:nvPr/>
        </p:nvSpPr>
        <p:spPr>
          <a:xfrm>
            <a:off x="2953512" y="5129784"/>
            <a:ext cx="1929384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9525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2953512" y="5129784"/>
            <a:ext cx="50292" cy="493776"/>
          </a:xfrm>
          <a:prstGeom prst="rect">
            <a:avLst/>
          </a:prstGeom>
          <a:solidFill>
            <a:srgbClr val="2474BC"/>
          </a:solidFill>
          <a:ln w="12700">
            <a:solidFill>
              <a:srgbClr val="247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3063240" y="519379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47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频率调整</a:t>
            </a:r>
            <a:endParaRPr lang="en-US" sz="1080" dirty="0"/>
          </a:p>
        </p:txBody>
      </p:sp>
      <p:sp>
        <p:nvSpPr>
          <p:cNvPr id="61" name="Text 59"/>
          <p:cNvSpPr/>
          <p:nvPr/>
        </p:nvSpPr>
        <p:spPr>
          <a:xfrm>
            <a:off x="2999232" y="539038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允许频点池重选</a:t>
            </a:r>
            <a:endParaRPr lang="en-US" sz="915" dirty="0"/>
          </a:p>
        </p:txBody>
      </p:sp>
      <p:sp>
        <p:nvSpPr>
          <p:cNvPr id="62" name="Shape 60"/>
          <p:cNvSpPr/>
          <p:nvPr/>
        </p:nvSpPr>
        <p:spPr>
          <a:xfrm>
            <a:off x="5029200" y="5129784"/>
            <a:ext cx="1929384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9525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5029200" y="5129784"/>
            <a:ext cx="50292" cy="493776"/>
          </a:xfrm>
          <a:prstGeom prst="rect">
            <a:avLst/>
          </a:prstGeom>
          <a:solidFill>
            <a:srgbClr val="C97833"/>
          </a:solidFill>
          <a:ln w="12700">
            <a:solidFill>
              <a:srgbClr val="C97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5138928" y="519379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C97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功率优化</a:t>
            </a:r>
            <a:endParaRPr lang="en-US" sz="1080" dirty="0"/>
          </a:p>
        </p:txBody>
      </p:sp>
      <p:sp>
        <p:nvSpPr>
          <p:cNvPr id="65" name="Text 63"/>
          <p:cNvSpPr/>
          <p:nvPr/>
        </p:nvSpPr>
        <p:spPr>
          <a:xfrm>
            <a:off x="5074920" y="539038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两端尝试最大功率</a:t>
            </a:r>
            <a:endParaRPr lang="en-US" sz="915" dirty="0"/>
          </a:p>
        </p:txBody>
      </p:sp>
      <p:sp>
        <p:nvSpPr>
          <p:cNvPr id="66" name="Shape 64"/>
          <p:cNvSpPr/>
          <p:nvPr/>
        </p:nvSpPr>
        <p:spPr>
          <a:xfrm>
            <a:off x="7104888" y="5129784"/>
            <a:ext cx="1929384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9525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7104888" y="5129784"/>
            <a:ext cx="50292" cy="493776"/>
          </a:xfrm>
          <a:prstGeom prst="rect">
            <a:avLst/>
          </a:prstGeom>
          <a:solidFill>
            <a:srgbClr val="198268"/>
          </a:solidFill>
          <a:ln w="12700">
            <a:solidFill>
              <a:srgbClr val="1982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7214616" y="519379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98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路由重构</a:t>
            </a:r>
            <a:endParaRPr lang="en-US" sz="1080" dirty="0"/>
          </a:p>
        </p:txBody>
      </p:sp>
      <p:sp>
        <p:nvSpPr>
          <p:cNvPr id="69" name="Text 67"/>
          <p:cNvSpPr/>
          <p:nvPr/>
        </p:nvSpPr>
        <p:spPr>
          <a:xfrm>
            <a:off x="7150608" y="539038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绕开中 / 重度链路</a:t>
            </a:r>
            <a:endParaRPr lang="en-US" sz="915" dirty="0"/>
          </a:p>
        </p:txBody>
      </p:sp>
      <p:sp>
        <p:nvSpPr>
          <p:cNvPr id="70" name="Shape 68"/>
          <p:cNvSpPr/>
          <p:nvPr/>
        </p:nvSpPr>
        <p:spPr>
          <a:xfrm>
            <a:off x="9180576" y="5129784"/>
            <a:ext cx="2093976" cy="493776"/>
          </a:xfrm>
          <a:prstGeom prst="roundRect">
            <a:avLst>
              <a:gd name="adj" fmla="val 18519"/>
            </a:avLst>
          </a:prstGeom>
          <a:solidFill>
            <a:srgbClr val="F4F7FB"/>
          </a:solidFill>
          <a:ln w="9525">
            <a:solidFill>
              <a:srgbClr val="E3EB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9180576" y="5129784"/>
            <a:ext cx="50292" cy="493776"/>
          </a:xfrm>
          <a:prstGeom prst="rect">
            <a:avLst/>
          </a:prstGeom>
          <a:solidFill>
            <a:srgbClr val="168C8D"/>
          </a:solidFill>
          <a:ln w="12700">
            <a:solidFill>
              <a:srgbClr val="16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9290304" y="519379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节点重部署</a:t>
            </a:r>
            <a:endParaRPr lang="en-US" sz="1080" dirty="0"/>
          </a:p>
        </p:txBody>
      </p:sp>
      <p:sp>
        <p:nvSpPr>
          <p:cNvPr id="73" name="Text 71"/>
          <p:cNvSpPr/>
          <p:nvPr/>
        </p:nvSpPr>
        <p:spPr>
          <a:xfrm>
            <a:off x="9226296" y="539038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5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km 内候选站址</a:t>
            </a:r>
            <a:endParaRPr lang="en-US" sz="915" dirty="0"/>
          </a:p>
        </p:txBody>
      </p:sp>
      <p:sp>
        <p:nvSpPr>
          <p:cNvPr id="74" name="Text 72"/>
          <p:cNvSpPr/>
          <p:nvPr/>
        </p:nvSpPr>
        <p:spPr>
          <a:xfrm>
            <a:off x="685800" y="5980176"/>
            <a:ext cx="10899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445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输出指标  受扰链路 / 节点 / 区域  ·  干扰后 SINR 与余量  ·  措施预评估  ·  优先级及未解决对象</a:t>
            </a:r>
            <a:endParaRPr lang="en-US" sz="1090" dirty="0"/>
          </a:p>
        </p:txBody>
      </p:sp>
      <p:sp>
        <p:nvSpPr>
          <p:cNvPr id="75" name="Shape 73"/>
          <p:cNvSpPr/>
          <p:nvPr/>
        </p:nvSpPr>
        <p:spPr>
          <a:xfrm>
            <a:off x="694944" y="6327648"/>
            <a:ext cx="10789920" cy="0"/>
          </a:xfrm>
          <a:prstGeom prst="line">
            <a:avLst/>
          </a:prstGeom>
          <a:noFill/>
          <a:ln w="10160">
            <a:solidFill>
              <a:srgbClr val="CFDC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704088" y="6419088"/>
            <a:ext cx="10945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382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实现边界：3 dB 恢复线是模块自定标准（基础建链为 6 dB）；采纳后重算分析场景，尚非直接下发设备的自动控制。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63624" cy="292608"/>
          </a:xfrm>
          <a:prstGeom prst="roundRect">
            <a:avLst>
              <a:gd name="adj" fmla="val 50000"/>
            </a:avLst>
          </a:prstGeom>
          <a:solidFill>
            <a:srgbClr val="1D4E57"/>
          </a:solidFill>
          <a:ln w="12700">
            <a:solidFill>
              <a:srgbClr val="1D4E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56362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当前边界与下一步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6809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700" b="1">
                <a:solidFill>
                  <a:srgbClr val="1027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算法闭环已完成；当前主要限制来自正式频率资源与系统联调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35024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验证场景补充 </a:t>
            </a:r>
            <a:r>
              <a:rPr lang="en-US" altLang="zh-CN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</a:t>
            </a:r>
            <a:r>
              <a:rPr lang="zh-CN" altLang="en-US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个频点后，</a:t>
            </a:r>
            <a:r>
              <a:rPr lang="en-US" altLang="zh-CN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</a:t>
            </a:r>
            <a:r>
              <a:rPr lang="zh-CN" altLang="en-US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处冲突降为 </a:t>
            </a:r>
            <a:r>
              <a:rPr lang="en-US" altLang="zh-CN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r>
              <a:rPr lang="zh-CN" altLang="en-US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altLang="zh-CN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HF / VUHF </a:t>
            </a:r>
            <a:r>
              <a:rPr lang="zh-CN" altLang="en-US" sz="13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缺口清零并通过校验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短波</a:t>
            </a:r>
            <a:r>
              <a:rPr lang="en-US" altLang="zh-CN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zh-CN" alt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超短波智能规划系统 </a:t>
            </a:r>
            <a:r>
              <a:rPr lang="en-US" altLang="zh-CN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W3–W4 </a:t>
            </a:r>
            <a:r>
              <a:rPr lang="zh-CN" alt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五分钟汇报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9AA7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846320" cy="1298448"/>
          </a:xfrm>
          <a:prstGeom prst="roundRect">
            <a:avLst>
              <a:gd name="adj" fmla="val 5634"/>
            </a:avLst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196596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>
                <a:solidFill>
                  <a:srgbClr val="1D4E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011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W3 / W4 </a:t>
            </a: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核心算法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414016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altLang="zh-CN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SR-4 </a:t>
            </a: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完整流程整合</a:t>
            </a:r>
          </a:p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异步任务查询与结果持久化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4846320" cy="1298448"/>
          </a:xfrm>
          <a:prstGeom prst="roundRect">
            <a:avLst>
              <a:gd name="adj" fmla="val 5634"/>
            </a:avLst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342900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1D4E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 / 23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474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自动化测试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877056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核心流程与异常场景全部通过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4846320" cy="1298448"/>
          </a:xfrm>
          <a:prstGeom prst="roundRect">
            <a:avLst>
              <a:gd name="adj" fmla="val 5634"/>
            </a:avLst>
          </a:prstGeom>
          <a:solidFill>
            <a:srgbClr val="E3F1F2"/>
          </a:solidFill>
          <a:ln w="12700">
            <a:solidFill>
              <a:srgbClr val="E3F1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489204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CN" sz="2200" b="1">
                <a:solidFill>
                  <a:srgbClr val="2378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→ 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49377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+8 </a:t>
            </a:r>
            <a:r>
              <a:rPr lang="zh-CN" altLang="en-US" sz="14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频点验证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5340096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altLang="zh-CN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HF / VUHF </a:t>
            </a: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缺口均为 </a:t>
            </a:r>
            <a:r>
              <a:rPr lang="en-US" altLang="zh-CN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</a:p>
          <a:p>
            <a:pPr marL="0" indent="0">
              <a:buNone/>
            </a:pPr>
            <a:r>
              <a:rPr lang="zh-CN" altLang="en-US" sz="1100">
                <a:solidFill>
                  <a:srgbClr val="5F6F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最终方案校验通过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1828800"/>
            <a:ext cx="585216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1D4E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 </a:t>
            </a:r>
            <a:r>
              <a:rPr lang="en-US" altLang="zh-CN" sz="1400" b="1">
                <a:solidFill>
                  <a:srgbClr val="1D4E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 </a:t>
            </a:r>
            <a:r>
              <a:rPr lang="zh-CN" altLang="en-US" sz="1400" b="1">
                <a:solidFill>
                  <a:srgbClr val="1D4E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尚待闭环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363535"/>
              </p:ext>
            </p:extLst>
          </p:nvPr>
        </p:nvGraphicFramePr>
        <p:xfrm>
          <a:off x="5760720" y="2212848"/>
          <a:ext cx="5879592" cy="1536192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类别</a:t>
                      </a:r>
                      <a:endParaRPr 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核心能力</a:t>
                      </a:r>
                      <a:endParaRPr 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接口与输出</a:t>
                      </a:r>
                      <a:endParaRPr 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系统侧事项</a:t>
                      </a:r>
                      <a:endParaRPr 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</a:t>
                      </a:r>
                      <a:endParaRPr 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已完成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W3 / W4 + SR-4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异步、持久化、三种导出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自动化回归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23 / 23 </a:t>
                      </a: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待闭环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正式频率资源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干扰结果前端渲染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GIS </a:t>
                      </a: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整体联调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待正式验收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验证结论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补充 </a:t>
                      </a:r>
                      <a:r>
                        <a:rPr lang="en-US" altLang="zh-CN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 </a:t>
                      </a: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个频点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冲突 </a:t>
                      </a:r>
                      <a:r>
                        <a:rPr lang="en-US" altLang="zh-CN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 → 0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HF / VUHF </a:t>
                      </a: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缺口 </a:t>
                      </a:r>
                      <a:r>
                        <a:rPr lang="en-US" altLang="zh-CN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0">
                          <a:solidFill>
                            <a:srgbClr val="1E2B3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方案校验通过</a:t>
                      </a:r>
                      <a:endParaRPr lang="en-US" sz="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760720" y="3977640"/>
            <a:ext cx="5879592" cy="2258568"/>
          </a:xfrm>
          <a:prstGeom prst="roundRect">
            <a:avLst>
              <a:gd name="adj" fmla="val 3239"/>
            </a:avLst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 txBox="1"/>
          <p:nvPr/>
        </p:nvSpPr>
        <p:spPr>
          <a:xfrm>
            <a:off x="5943600" y="4133088"/>
            <a:ext cx="5532120" cy="2057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800"/>
              </a:spcAft>
              <a:buSzPct val="100000"/>
              <a:buNone/>
            </a:pP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已经完成：</a:t>
            </a:r>
            <a:r>
              <a:rPr lang="en-US" altLang="zh-CN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W3</a:t>
            </a: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W4 </a:t>
            </a: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核心算法；</a:t>
            </a:r>
            <a:r>
              <a:rPr lang="en-US" altLang="zh-CN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SR-4 </a:t>
            </a: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全流程；</a:t>
            </a:r>
            <a:r>
              <a:rPr lang="en-US" altLang="zh-CN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</a:t>
            </a: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异步接口；方案校验与结果持久化；</a:t>
            </a:r>
            <a:r>
              <a:rPr lang="en-US" altLang="zh-CN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</a:t>
            </a: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CSV</a:t>
            </a: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XLSX </a:t>
            </a: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方案导出；</a:t>
            </a:r>
            <a:r>
              <a:rPr lang="en-US" altLang="zh-CN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 </a:t>
            </a: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项自动化测试全部通过。</a:t>
            </a:r>
          </a:p>
          <a:p>
            <a:pPr marL="0" indent="0">
              <a:spcAft>
                <a:spcPts val="800"/>
              </a:spcAft>
              <a:buSzPct val="100000"/>
              <a:buNone/>
            </a:pPr>
            <a:endParaRPr lang="zh-CN" altLang="en-US" sz="1200" b="1">
              <a:solidFill>
                <a:srgbClr val="1E2B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尚待闭环：合作方确认正式频率资源；</a:t>
            </a:r>
            <a:r>
              <a:rPr lang="en-US" altLang="zh-CN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GIS </a:t>
            </a: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前端展示与交互联调；干扰区域、受扰链路与措施对比的前端渲染；正式环境验收测试。</a:t>
            </a:r>
          </a:p>
          <a:p>
            <a:pPr marL="0" indent="0">
              <a:spcAft>
                <a:spcPts val="800"/>
              </a:spcAft>
              <a:buSzPct val="100000"/>
              <a:buNone/>
            </a:pPr>
            <a:endParaRPr lang="zh-CN" altLang="en-US" sz="1200" b="1">
              <a:solidFill>
                <a:srgbClr val="1E2B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zh-CN" altLang="en-US" sz="1200" b="1">
                <a:solidFill>
                  <a:srgbClr val="1E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结论：补充频点即可消除冲突，说明主要限制来自频率资源，而不是规划流程没有实现。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A77E76A-DEBC-4F59-9E07-2D8A573E000D}">
  <we:reference id="wa200010215" version="2.0.0.1" store="zh-CN" storeType="OMEX"/>
  <we:alternateReferences>
    <we:reference id="wa200010215" version="2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1704</Words>
  <Application>Microsoft Office PowerPoint</Application>
  <PresentationFormat>宽屏</PresentationFormat>
  <Paragraphs>293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Noto Sans CJK SC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短波/超短波智能规划系统 · W1–W3 阶段汇报</dc:title>
  <dc:subject>PptxGenJS Presentation</dc:subject>
  <dc:creator>代码与数据线</dc:creator>
  <cp:lastModifiedBy>方传 魏</cp:lastModifiedBy>
  <cp:revision>21</cp:revision>
  <dcterms:created xsi:type="dcterms:W3CDTF">2026-09-29T01:41:00Z</dcterms:created>
  <dcterms:modified xsi:type="dcterms:W3CDTF">2026-10-09T06:13:20Z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22656F10CBB448D78AE5AE0F2E142000_12</vt:lpwstr>
  </property>
  <property fmtid="{D5CDD505-2E9C-101B-9397-08002B2CF9AE}" pid="3" name="KSOProductBuildVer">
    <vt:lpwstr>2052-12.1.0.28505</vt:lpwstr>
  </property>
</Properties>
</file>