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3" r:id="rId16"/>
    <p:sldId id="274" r:id="rId17"/>
    <p:sldId id="275" r:id="rId18"/>
    <p:sldId id="276" r:id="rId19"/>
    <p:sldId id="278" r:id="rId20"/>
    <p:sldId id="279" r:id="rId21"/>
    <p:sldId id="280" r:id="rId22"/>
    <p:sldId id="281" r:id="rId23"/>
    <p:sldId id="28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开场：文档已通读，框架和界面设计完整，理解基本对得上。今天想重点对三件事：功能边界怎么划、接口怎么定、数据从哪来。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本次会议围绕功能边界、接口约定、数据资源三项展开。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一句话定位：界面和业务流程贵方做，短波超短波的计算内核我方做。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指标来源：技术方案 V2.0，我方软需已逐条对齐。务必补充说明：最终数值以原型试算结果为准再做一次确认。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讲清跳距与静区两个概念即可，不展开公式推导。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重点是异步任务接口的形态，建议本次会上确认。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此项需明确答复，会后写入会议纪要请对方确认。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强调资料对图谱质量的决定作用。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会后交付《知识图谱资料需求清单》与填报模板。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此项为新增需求，实现难度与工作量回去评估后书面反馈。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解析精度取决于图片质量，前提需先说明。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架构那条不能省 —— 决定图数据库选型，拖到部署阶段发现就是返工。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6596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短波 / 超短波智能通信网络规划系统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46888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算法分系统 需求对接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4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需求理解与边界 · 遗留问题答复 · 推进方案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069080"/>
            <a:ext cx="1371600" cy="274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2026.08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今天想重点对三件事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3291840" cy="1783080"/>
          </a:xfrm>
          <a:prstGeom prst="roundRect">
            <a:avLst>
              <a:gd name="adj" fmla="val 1538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1560" y="25328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310896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功能边界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0215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哪些做、哪些不做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331720"/>
            <a:ext cx="3291840" cy="1783080"/>
          </a:xfrm>
          <a:prstGeom prst="roundRect">
            <a:avLst>
              <a:gd name="adj" fmla="val 1538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25328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接口约定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50215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算法与前端怎么衔接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2331720"/>
            <a:ext cx="3291840" cy="1783080"/>
          </a:xfrm>
          <a:prstGeom prst="roundRect">
            <a:avLst>
              <a:gd name="adj" fmla="val 1538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75320" y="25328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350215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需要什么、谁提供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今天的顺序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01091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需求理解与边界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72200" y="501091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需要先对齐的四件事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551383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上次交流会遗留问题答复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72200" y="551383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推进方案：怎么做、要什么、我们怎么弄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2514600" y="214884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需求理解与边界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560320" y="3063240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9FB4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分工怎么划</a:t>
            </a:r>
            <a:endParaRPr lang="en-US" sz="1350" dirty="0"/>
          </a:p>
          <a:p>
            <a:pPr marL="0" indent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9FB4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算法级指标以哪套为准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需求理解与边界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分工：界面与流程在贵方，计算内核在我方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21208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51560" y="2350008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华科</a:t>
            </a:r>
            <a:r>
              <a:rPr lang="en-US" sz="15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算法计算内核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3017520"/>
            <a:ext cx="466344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传播模型与覆盖计算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部署选址、路由规划、频率分配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链路质量评分与态势计算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知识图谱构建与故障推理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212080" cy="3291840"/>
          </a:xfrm>
          <a:prstGeom prst="roundRect">
            <a:avLst>
              <a:gd name="adj" fmla="val 833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83680" y="2350008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r>
              <a:rPr lang="zh-CN" alt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</a:t>
            </a: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界面与业务流程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01968" y="3017520"/>
            <a:ext cx="466344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GIS 渲染、图层与面板交互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资源树、工作台与业务流程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数据存储、调度与系统管理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设备侧协议对接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6108192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文档中所有「系统调用××算法」处，均由我方以服务接口提供；前端呈现我方不参与。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需求理解与边界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算法级指标：已有一套，建议直接作为基线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来源：技术方案 V2.0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777240" y="2240280"/>
          <a:ext cx="10652760" cy="345643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网络规模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短波 ≥50 节点；超短波 ≥100 节点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规划时限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快速规划模式有明确时限；需 ≥24 核 CPU；网络分区 4~6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覆盖计算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精度 ≤3dB；栅格 500m / 100m 两档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频率分配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 种群 100、代数 500、权重 0.4 / 0.3 / 0.3；C/I 默认 12dB（10~15 可配）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知识图谱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3~5 跳查询 &lt;200ms；图谱查询 ≤5 秒；NER F1 75% / 85%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故障诊断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规则引擎 ≤1 秒；诊断推理 ≤10 秒；ML 启用阈值 ≥500 条且每类 ≥20 条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态势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刷新 ≤1 分钟；端到端 ≤60 秒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工程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单元测试覆盖率 ≥80%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6108192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建议以此为基线写入需求文档；最终数值以原型试算结果为准做一次确认。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2514600" y="214884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技术对齐</a:t>
            </a:r>
          </a:p>
        </p:txBody>
      </p:sp>
      <p:sp>
        <p:nvSpPr>
          <p:cNvPr id="4" name="Text 2"/>
          <p:cNvSpPr/>
          <p:nvPr/>
        </p:nvSpPr>
        <p:spPr>
          <a:xfrm>
            <a:off x="2560320" y="3063240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500"/>
              </a:spcAft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/>
              <a:t>技术对齐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短波覆盖不能按扇形 / 圆形呈现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现文档要求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以半透明扇形 / 圆形展示单台设备覆盖，强中弱三级分色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问题所在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54864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超短波成立：视距传播，覆盖近似圆形，受地形切割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短波不成立：地波近区 → 静区 → 天波环状远区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且随时段、季节、太阳活动变化，白天与夜间形态不同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02552" y="2496312"/>
            <a:ext cx="2231136" cy="2231136"/>
          </a:xfrm>
          <a:prstGeom prst="ellipse">
            <a:avLst/>
          </a:prstGeom>
          <a:solidFill>
            <a:srgbClr val="DCEA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050024" y="2843784"/>
            <a:ext cx="1536192" cy="1536192"/>
          </a:xfrm>
          <a:prstGeom prst="ellipse">
            <a:avLst/>
          </a:prstGeom>
          <a:solidFill>
            <a:srgbClr val="9CC9C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415784" y="3209544"/>
            <a:ext cx="804672" cy="8046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354312" y="2496312"/>
            <a:ext cx="2231136" cy="223113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701784" y="2843784"/>
            <a:ext cx="1536192" cy="1536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0195560" y="333756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675120" y="48920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超短波 · 视距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89720" y="48920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短波 · 天波（含静区）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6108192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建议：渲染方式支持环状与多区域；短波覆盖按选定时刻计算，界面需提供时间选择。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/>
              <a:t>技术对齐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覆盖计算的响应要求：建议分级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200400" cy="3246120"/>
          </a:xfrm>
          <a:prstGeom prst="roundRect">
            <a:avLst>
              <a:gd name="adj" fmla="val 857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33272" y="24323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现文档要求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2761488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参数微调后「实时计算并预览覆盖变化」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2240280"/>
            <a:ext cx="6933895" cy="15087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773168" y="249631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单站覆盖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814255" y="2523744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814255" y="25237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同步接口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73168" y="3017520"/>
            <a:ext cx="6348679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预计算 + 缓存，秒级刷新，栅格分辨率可配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80560" y="3977640"/>
            <a:ext cx="6933895" cy="15087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773168" y="423367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全网规划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814255" y="4261104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814255" y="426110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异步任务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73168" y="4754880"/>
            <a:ext cx="6348679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提交后返回任务号，算完回调，界面给进度条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6108192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/>
              <a:t>技术对齐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范围变化：两项新增、两项未见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5212080" cy="3246120"/>
          </a:xfrm>
          <a:prstGeom prst="roundRect">
            <a:avLst>
              <a:gd name="adj" fmla="val 845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51560" y="2395728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新增，超出算法范围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3108960"/>
            <a:ext cx="4626864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配置下发与校验：下发至真实电台、回执 ≤2 秒 —— 需设备协议与真实设备</a:t>
            </a:r>
            <a:endParaRPr lang="en-US" sz="1350" dirty="0"/>
          </a:p>
          <a:p>
            <a:pPr marL="342900" indent="-342900">
              <a:lnSpc>
                <a:spcPts val="23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频谱数据接入接口：采集设备协议与数据格式待明确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212080" cy="3246120"/>
          </a:xfrm>
          <a:prstGeom prst="roundRect">
            <a:avLst>
              <a:gd name="adj" fmla="val 845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83680" y="2395728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原有，本次文档中未见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01968" y="3108960"/>
            <a:ext cx="4626864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干扰分析：仅保留「干扰源新建」入口，无干扰计算与影响评估需求</a:t>
            </a:r>
            <a:endParaRPr lang="en-US" sz="1350" dirty="0"/>
          </a:p>
          <a:p>
            <a:pPr marL="342900" indent="-342900">
              <a:lnSpc>
                <a:spcPts val="23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设备数字孪生建模：作为独立模块消失，内容拆入设备详情面板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6108192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2514600" y="214884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遗留问题</a:t>
            </a:r>
            <a:r>
              <a:rPr lang="zh-CN" alt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讨论</a:t>
            </a:r>
          </a:p>
        </p:txBody>
      </p:sp>
      <p:sp>
        <p:nvSpPr>
          <p:cNvPr id="4" name="Text 2"/>
          <p:cNvSpPr/>
          <p:nvPr/>
        </p:nvSpPr>
        <p:spPr>
          <a:xfrm>
            <a:off x="2560320" y="3063240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9FB4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 · 逐级越级 · 干扰与数量 · 调研文件 · 频谱图片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遗留问题</a:t>
            </a:r>
            <a:r>
              <a:rPr lang="zh-CN" alt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讨论</a:t>
            </a: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问题一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知识图谱的输入：需要提前整理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整理程度直接决定图谱能做到什么程度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5212080" cy="246888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1560" y="2441448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结构化数据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2926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台账、参数表、编成表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69848" y="338328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可直接映射为实体与关系，处理快</a:t>
            </a:r>
            <a:endParaRPr lang="en-US" sz="1350" dirty="0"/>
          </a:p>
          <a:p>
            <a:pPr marL="0" indent="0">
              <a:lnSpc>
                <a:spcPts val="23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要求：表头统一、口径统一、不合并单元格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5212080" cy="2468880"/>
          </a:xfrm>
          <a:prstGeom prst="roundRect">
            <a:avLst>
              <a:gd name="adj" fmla="val 1111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83680" y="2441448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非结构化资料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01968" y="29260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说明书、操作规程、故障案例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01968" y="338328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需先做信息抽取，再入图谱</a:t>
            </a:r>
            <a:endParaRPr lang="en-US" sz="1350" dirty="0"/>
          </a:p>
          <a:p>
            <a:pPr marL="0" indent="0">
              <a:lnSpc>
                <a:spcPts val="23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要求：可复制文字的电子版；需具备一定数量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5074920"/>
            <a:ext cx="10637215" cy="731520"/>
          </a:xfrm>
          <a:prstGeom prst="roundRect">
            <a:avLst>
              <a:gd name="adj" fmla="val 5000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5074920"/>
            <a:ext cx="999713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图谱的质量上限由资料决定，不是由算法决定。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遗留问题</a:t>
            </a:r>
            <a:r>
              <a:rPr lang="zh-CN" alt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讨论</a:t>
            </a: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问题一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三种图谱分别需要什么资料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77240" y="2194560"/>
          <a:ext cx="10652760" cy="26334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图谱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所需资料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格式要求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设备知识图谱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技术与使用说明书、部件组成清单、工作原理说明、操作规程、参数指标表、维护规程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可复制文字的 PDF / Word，最好带目录层级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网络态势知识图谱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组网规则、网系编成结构（含隶属层级与角色）、天线型号与配属、频率使用规定、链路质量分级标准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结构化表格优先；编成结构可脱敏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4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故障知识图谱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故障现象—原因—部件—处置方案的案例记录、排障手册、历史维修记录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表格或规范文本；数量是关键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5230368"/>
            <a:ext cx="10637215" cy="868680"/>
          </a:xfrm>
          <a:prstGeom prst="roundRect">
            <a:avLst>
              <a:gd name="adj" fmla="val 4211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97280" y="535838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故障图谱的门槛：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5687568"/>
            <a:ext cx="999713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几十条典型案例 → 规则推理层可做，能出根因定位与修复建议　|　≥500 条且每类 ≥20 条 → 机器学习层方可启用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08192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遗留</a:t>
            </a:r>
            <a:r>
              <a:rPr lang="zh-CN" alt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问题讨论</a:t>
            </a: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问题二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逐级通信与应急越级：重要的需求澄清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意味着网络不是平面图，而是有层级、有隶属关系的分级网络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329184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33272" y="2578608"/>
            <a:ext cx="27797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拓扑建模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272" y="3090672"/>
            <a:ext cx="277977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节点需带「所属层级」与「网络角色」属性；通联关系按隶属确定，非任意两点可通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377440"/>
            <a:ext cx="329184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645152" y="2578608"/>
            <a:ext cx="27797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路由规划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3090672"/>
            <a:ext cx="277977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常态按逐级链路；应急允许越级。以模式开关或分层权重实现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1000" y="2377440"/>
            <a:ext cx="329184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57032" y="2578608"/>
            <a:ext cx="27797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故障影响分析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7032" y="3090672"/>
            <a:ext cx="277977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上级节点故障，影响的是其下整个分支，与平面网推演逻辑不同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6634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需要34</a:t>
            </a:r>
            <a:r>
              <a:rPr lang="zh-CN" alt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</a:t>
            </a: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01091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网系编成结构：分几级、每级节点数、隶属关系（可脱敏，我方只需结构，不需真实身份）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越级的触发条件与允许范围：何为应急、允许跨几级、有无不可越的层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越级由人工触发还是算法自动判断 —— 决定界面是否需要操作入口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遗留问题</a:t>
            </a:r>
            <a:r>
              <a:rPr lang="zh-CN" alt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讨论</a:t>
            </a: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新指标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频谱采集只有图片：能解析，但要看前提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从频谱图还原曲线数据是成熟技术，精度取决于图片本身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3383280" cy="3063240"/>
          </a:xfrm>
          <a:prstGeom prst="roundRect">
            <a:avLst>
              <a:gd name="adj" fmla="val 896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1560" y="253288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成立的前提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分辨率足够，曲线清晰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坐标轴刻度清晰可读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曲线颜色单一、无遮挡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量程固定则可一次标定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3383280" cy="3063240"/>
          </a:xfrm>
          <a:prstGeom prst="roundRect">
            <a:avLst>
              <a:gd name="adj" fmla="val 896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54880" y="253288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可以支撑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频谱占用度统计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 / 空闲频点识别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干扰所在频段的判断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足以支撑频谱态势与可用频点筛选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2331720"/>
            <a:ext cx="3383280" cy="3063240"/>
          </a:xfrm>
          <a:prstGeom prst="roundRect">
            <a:avLst>
              <a:gd name="adj" fmla="val 896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58200" y="253288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5C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无法支撑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320040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精确的功率数值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幅度由像素反推，误差可达数 dB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信号识别与调制方式判断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2514600" y="214884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推进方案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560320" y="3063240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500"/>
              </a:spcAft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独立算法服务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6035040" cy="3246120"/>
          </a:xfrm>
          <a:prstGeom prst="roundRect">
            <a:avLst>
              <a:gd name="adj" fmla="val 845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51560" y="23957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306324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算法封装为独立服务，HTTP + JSON 调用，不进贵方工程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短波 ITU-R P.533；超短波 ITU-R P.1546 + Longley-Rice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频率分配 图着色 + 遗传算法；多目标场景 NSGA-II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知识图谱用图数据库；故障诊断先做规则推理层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计算分两类：单点查询同步，全网规划异步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2194560"/>
            <a:ext cx="4389120" cy="3246120"/>
          </a:xfrm>
          <a:prstGeom prst="roundRect">
            <a:avLst>
              <a:gd name="adj" fmla="val 845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406640" y="239572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24928" y="3063240"/>
            <a:ext cx="38404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可独立部署的算法服务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接口文档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算法说明书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测试报告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典型想定演示数据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6108192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可视化呈现全部在贵方界面；联调建议以双方约定的同一套典型想定数据为准，结果一致即为通过。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接口先行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242316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14984" y="26974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14984" y="3172968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接口冻结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14984" y="3575304"/>
            <a:ext cx="194767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字段、单位、错误码先定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18688" y="3246120"/>
            <a:ext cx="3291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66160" y="2514600"/>
            <a:ext cx="2423160" cy="2011680"/>
          </a:xfrm>
          <a:prstGeom prst="roundRect">
            <a:avLst>
              <a:gd name="adj" fmla="val 1364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803904" y="26974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803904" y="3172968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打桩服务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803904" y="3575304"/>
            <a:ext cx="194767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地址与格式真实，数据模拟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07608" y="3246120"/>
            <a:ext cx="3291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55080" y="2514600"/>
            <a:ext cx="242316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92824" y="26974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92824" y="3172968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r>
              <a:rPr lang="zh-CN" altLang="en-US" sz="145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</a:t>
            </a:r>
            <a:r>
              <a:rPr lang="en-US" sz="145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联调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75304"/>
            <a:ext cx="194767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前端即可开工，无需等待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96528" y="3246120"/>
            <a:ext cx="3291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44000" y="2514600"/>
            <a:ext cx="242316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381744" y="26974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7C8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81744" y="3172968"/>
            <a:ext cx="19476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替换实现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81744" y="3575304"/>
            <a:ext cx="194767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算法就绪后换真计算，接口不变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97280" y="4983480"/>
            <a:ext cx="99971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分四步走，每步都有明确前提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顺序按依赖关系排：越不依赖外部输入的越先做</a:t>
            </a:r>
            <a:endParaRPr lang="en-US" sz="13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777240" y="2286000"/>
          <a:ext cx="10652760" cy="32918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步骤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做什么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前提条件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前提未到位的降级方案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第一步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接口约定、数据字典、打桩服务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无，立即可启动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第二步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传播模型与覆盖计算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DEM 地形、设备参数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先用公开 SRTM + 典型参数跑通流程，真数据到位后替换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第三步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规划算法：部署、路由、频率分配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节点规模、编成结构、频率池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先按技术方案规模做；规模变更算法不必重写，但性能需重测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第四步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知识图谱与故障诊断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设备资料、故障案例语料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规则推理层先做；机器学习层视语料量再定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贯穿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与贵方联调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打桩服务 + 共同想定数据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949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6108192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需要贵方提供的数据与资源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会后整理成清单文档发送；按依赖关系，编成结构与故障案例最急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78408" y="233172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13432" y="233172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规划区域 DEM，30m 精度即可，先给大致范围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78408" y="297180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地物 / 交通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13432" y="297180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地物类型、路网数据（候选点筛选依据）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78408" y="361188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13432" y="361188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型号、频段、功率档位、天线型号与方向图、参数范围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78408" y="425196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13432" y="425196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可用频率资源池、复用与保护间隔规定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89204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78408" y="489204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13432" y="489204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网系分级结构、隶属关系、越级规则（可脱敏）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553212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78408" y="553212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电离层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13432" y="553212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短波 P.533 所需参数（我方可自取，需确认合规）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233172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19088" y="233172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233172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说明书、操作规程、故障案例（见前页）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297180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19088" y="297180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54112" y="297180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干扰源类型与典型参数；或确认采用典型参数库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17920" y="361188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19088" y="361188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54112" y="361188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采集设备协议与数据格式；样例频谱图 2 张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0" y="425196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19088" y="425196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54112" y="425196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至少 1 套典型任务想定：区域、节点数、通联关系、覆盖指标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17920" y="4892040"/>
            <a:ext cx="5257800" cy="530352"/>
          </a:xfrm>
          <a:prstGeom prst="roundRect">
            <a:avLst>
              <a:gd name="adj" fmla="val 5172"/>
            </a:avLst>
          </a:prstGeom>
          <a:solidFill>
            <a:srgbClr val="F4F6F7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419088" y="489204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部署环境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54112" y="4892040"/>
            <a:ext cx="3584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麒麟版本、CPU 架构（ARM 或 x86）、可用核数、有无 GPU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接口清单（初稿）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字段命名、单位口径、错误码、超时与回调方式，建议一并约定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487168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41832" y="2487168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487168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候选部署位置筛选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564892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46320" y="2564892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487168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82512" y="2487168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487168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移动台部署方案生成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287000" y="2564892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287000" y="2564892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017520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41832" y="3017520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017520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路由规划（逐级 / 越级）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095244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46320" y="3095244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017520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382512" y="3017520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017520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频率资源分配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287000" y="3095244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287000" y="3095244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3547872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41832" y="3547872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17320" y="3547872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电台参数规划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625596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846320" y="3625596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547872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82512" y="3547872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547872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单站覆盖计算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287000" y="3625596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287000" y="3625596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7240" y="4078224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41832" y="4078224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17320" y="4078224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全网覆盖计算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4155948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846320" y="4155948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4078224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382512" y="4078224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4078224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链路质量评分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87000" y="4155948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287000" y="4155948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7240" y="4608576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41832" y="4608576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417320" y="4608576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故障根因推理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46320" y="4686300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846320" y="4686300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4608576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382512" y="4608576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58000" y="4608576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故障影响范围分析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287000" y="4686300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287000" y="4686300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77240" y="5138928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941832" y="5138928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17320" y="5138928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修复建议生成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846320" y="5216652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4846320" y="5216652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217920" y="5138928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382512" y="5138928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858000" y="5138928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知识图谱查询与推理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287000" y="5216652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0287000" y="5216652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77240" y="5669280"/>
            <a:ext cx="5120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941832" y="5669280"/>
            <a:ext cx="411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9BA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417320" y="5669280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频谱数据接入（数据 / 图片）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846320" y="5747004"/>
            <a:ext cx="868680" cy="283464"/>
          </a:xfrm>
          <a:prstGeom prst="roundRect">
            <a:avLst>
              <a:gd name="adj" fmla="val 16129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4846320" y="5747004"/>
            <a:ext cx="86868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三个最高风险与对应降级方案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前提若无法解决，功能仍在，但深度会打折 —— 希望双方现在就有共识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3291840" cy="3108960"/>
          </a:xfrm>
          <a:prstGeom prst="roundRect">
            <a:avLst>
              <a:gd name="adj" fmla="val 882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33272" y="2761488"/>
            <a:ext cx="27797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故障案例语料不足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3218688"/>
            <a:ext cx="277977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机器学习层无法开展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33272" y="3886200"/>
            <a:ext cx="2779776" cy="1536192"/>
          </a:xfrm>
          <a:prstGeom prst="roundRect">
            <a:avLst>
              <a:gd name="adj" fmla="val 1786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88720" y="3886200"/>
            <a:ext cx="2468880" cy="1536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规则推理层照做，可出根因与修复建议；ML 层本次不承诺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2560320"/>
            <a:ext cx="3291840" cy="3108960"/>
          </a:xfrm>
          <a:prstGeom prst="roundRect">
            <a:avLst>
              <a:gd name="adj" fmla="val 882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645152" y="2761488"/>
            <a:ext cx="27797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没有真实设备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3218688"/>
            <a:ext cx="277977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实时状态与配置下发无法验证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45152" y="3886200"/>
            <a:ext cx="2779776" cy="1536192"/>
          </a:xfrm>
          <a:prstGeom prst="roundRect">
            <a:avLst>
              <a:gd name="adj" fmla="val 1786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3886200"/>
            <a:ext cx="2468880" cy="1536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以模拟器产生状态数据；配置下发只做到生成方案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01000" y="2560320"/>
            <a:ext cx="3291840" cy="3108960"/>
          </a:xfrm>
          <a:prstGeom prst="roundRect">
            <a:avLst>
              <a:gd name="adj" fmla="val 882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57032" y="2761488"/>
            <a:ext cx="27797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CPU 架构为 ARM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3218688"/>
            <a:ext cx="277977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图数据库性能可能不达标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57032" y="3886200"/>
            <a:ext cx="2779776" cy="1536192"/>
          </a:xfrm>
          <a:prstGeom prst="roundRect">
            <a:avLst>
              <a:gd name="adj" fmla="val 1786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412480" y="3886200"/>
            <a:ext cx="2468880" cy="1536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环境确认后首月内做基准测试，不达标即切换 NebulaGraph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47548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会后行动分工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5212080" cy="3154680"/>
          </a:xfrm>
          <a:prstGeom prst="roundRect">
            <a:avLst>
              <a:gd name="adj" fmla="val 870"/>
            </a:avLst>
          </a:prstGeom>
          <a:solidFill>
            <a:srgbClr val="E4F0F1"/>
          </a:solidFill>
          <a:ln w="12700">
            <a:solidFill>
              <a:srgbClr val="E4F0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51560" y="2487168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我方立即启动（不依赖贵方资料）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3200400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　接口清单与字段定义</a:t>
            </a:r>
            <a:endParaRPr lang="en-US" sz="1400" dirty="0"/>
          </a:p>
          <a:p>
            <a:pPr marL="0" indent="0">
              <a:lnSpc>
                <a:spcPts val="23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　知识图谱资料需求清单与填报模板</a:t>
            </a:r>
            <a:endParaRPr lang="en-US" sz="1400" dirty="0"/>
          </a:p>
          <a:p>
            <a:pPr marL="0" indent="0">
              <a:lnSpc>
                <a:spcPts val="23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　本次会议纪要，送贵方确认</a:t>
            </a:r>
            <a:endParaRPr lang="en-US" sz="1400" dirty="0"/>
          </a:p>
          <a:p>
            <a:pPr marL="0" indent="0">
              <a:lnSpc>
                <a:spcPts val="23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　打桩服务 —— 接口一定即搭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212080" cy="315468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83680" y="2487168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希望34</a:t>
            </a:r>
            <a:r>
              <a:rPr lang="zh-CN" alt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</a:t>
            </a:r>
            <a:r>
              <a:rPr lang="en-US" sz="1500" b="1" dirty="0">
                <a:solidFill>
                  <a:srgbClr val="1624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01968" y="3200400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　调研文件，或脱敏版 / 口头场景</a:t>
            </a:r>
            <a:endParaRPr lang="en-US" sz="1400" dirty="0"/>
          </a:p>
          <a:p>
            <a:pPr marL="0" indent="0">
              <a:lnSpc>
                <a:spcPts val="23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　网系编成结构</a:t>
            </a:r>
            <a:endParaRPr lang="en-US" sz="1400" dirty="0"/>
          </a:p>
          <a:p>
            <a:pPr marL="0" indent="0">
              <a:lnSpc>
                <a:spcPts val="23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　样例频谱图片</a:t>
            </a:r>
            <a:endParaRPr lang="en-US" sz="1400" dirty="0"/>
          </a:p>
          <a:p>
            <a:pPr marL="0" indent="0">
              <a:lnSpc>
                <a:spcPts val="23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3949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　部署环境的 CPU 架构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6108192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B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指标口径以技术方案 V2.0 为基线；具体工期待节点规模、部署环境、资料到位后再排。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60604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77240" y="3611880"/>
            <a:ext cx="1371600" cy="274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1080</Words>
  <Application>Microsoft Office PowerPoint</Application>
  <PresentationFormat>宽屏</PresentationFormat>
  <Paragraphs>358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方传 魏</cp:lastModifiedBy>
  <cp:revision>4</cp:revision>
  <dcterms:created xsi:type="dcterms:W3CDTF">2026-08-21T05:38:49Z</dcterms:created>
  <dcterms:modified xsi:type="dcterms:W3CDTF">2026-08-21T06:06:09Z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C66A78621DEF4D69B8DE876A2CE5CE32_42</vt:lpwstr>
  </property>
  <property fmtid="{D5CDD505-2E9C-101B-9397-08002B2CF9AE}" pid="3" name="KSOProductBuildVer">
    <vt:lpwstr>2052-12.1.23141.23141</vt:lpwstr>
  </property>
</Properties>
</file>