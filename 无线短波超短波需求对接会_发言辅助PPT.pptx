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97" r:id="rId2"/>
    <p:sldId id="298" r:id="rId3"/>
    <p:sldId id="316" r:id="rId4"/>
    <p:sldId id="300" r:id="rId5"/>
    <p:sldId id="301" r:id="rId6"/>
    <p:sldId id="302" r:id="rId7"/>
    <p:sldId id="317" r:id="rId8"/>
    <p:sldId id="304" r:id="rId9"/>
    <p:sldId id="305" r:id="rId10"/>
    <p:sldId id="318" r:id="rId11"/>
    <p:sldId id="307" r:id="rId12"/>
    <p:sldId id="308" r:id="rId13"/>
    <p:sldId id="309" r:id="rId14"/>
    <p:sldId id="310" r:id="rId15"/>
    <p:sldId id="311" r:id="rId16"/>
    <p:sldId id="312" r:id="rId17"/>
    <p:sldId id="319" r:id="rId18"/>
    <p:sldId id="314" r:id="rId19"/>
    <p:sldId id="31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48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50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开场先认可对方文档整体完整，再把议题收束到三件事：功能边界、接口形态、数据来源。不要在标题页谈缺口、时间或指标。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这一页可以作为开场后的议程页。口述时说：今天不是逐条过文档，而是把三件决定后续返工风险的事先定住。内部提醒：不报工期、不报性能指标、不当场答应新增功能。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口述重点：你们文档里“系统调用规划算法”“基于知识图谱推理”的背后，就是我们提供的服务接口。我们不进入前端，不改对方工程。编号体系建议保持独立算法软需，再出需求映射表。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这一页是全场最重要的“需求缺口”表达。不要说“你们没写算法需求”，要说“这部分我们不好替你们定”。把问题转成：请对方给业务期望，双方确认后补进需求文档。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讲清楚“跳距、静区、时变”即可，不展开公式。语气要是帮对方避免评审风险：短波不是画一个圆的问题，必须允许环状、多区域和按时刻计算。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不要说“做不到”，说“分级响应”。单站可以用缓存做秒级，全网规划必须走异步任务。接口上要确认：任务号、进度条、回调/轮询。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这页要到明确回答，现场记录，会后纪要请对方确认。配置下发和频谱接入不要当场接；干扰分析和数字孪生要确认是删除还是遗漏，关系到工作量认定。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强调“图谱质量上限由资料决定”。故障图谱尤其要讲清楚：几十条典型案例可以支撑规则推理，几百条以上才可能谈机器学习自动学习新模式。可以承诺会后出清单和模板。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对分级通信要积极接住，因为这是有效需求澄清。也要说明它会影响拓扑建模、路由规划和故障影响分析。请对方给脱敏结构样例、越级规则、触发方式。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开头说“数量固定其实是好消息”。然后把问题拆成两种：给定数量求位置、求最少数量。干扰源一定追问：是仿真干扰还是现实探测定位？如果要算影响，需要补需求。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这页不要简单答“能解析”。先讲前提，再讲能满足/不能满足，最后建议先找厂家要原始 trace 数据。落点：接口按双输入设计，拿到两张样例图后再评估精度。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不要报具体时间。口述：我们通过独立服务提供能力，你们的 Java 后端用 HTTP/JSON 调用；同步接口处理单点查询，耗时规划走异步任务。可视化仍在对方界面完成。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这页可以现场作为接口讨论清单。重点不是一次把十三个接口讲细，而是争取先冻结“契约”：字段、单位、错误码、超时、同步/异步和回调方式。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这是最能让对方放心的一页。打桩服务是我们可控且可承诺的事：地址、字段名、返回格式都是真的，先用假数据联通前后端，算法完成后逐个替换。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解释逻辑：不是不愿意给日期，而是节点规模、地形数据、部署环境没确认时给日期不可靠。先把事件顺序确认：接口冻结、打桩服务、单站覆盖、规划算法、知识图谱、全流程联调。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这页是软性催单。重点必须问：节点规模以哪个为准？CPU 是 ARM 还是 x86？有没有真实设备？样例频谱图片能否给两张？对敏感资料给台阶：脱敏版、摘要版、口述后由我们整理确认都可以。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这一页可在最后作为现场确认清单。一定逐条问并记录，不要让话题滑过去。会后纪要里把“确认项”和“待答复项”分开列。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最后用四件我们能主动做的事增强推进感，同时把对方待提供内容再次点明。工期和指标不要现场给，明确说等关键输入确认后书面反馈。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备用页，不主动放。对方追问时间、实时、新增功能、算法指标、数据获取时使用。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74904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无线通信（短波 / 超短波）
需求对接会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会议交流材料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417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本次目标：明确边界、接口与数据条件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434840" y="20574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0" dirty="0">
                <a:solidFill>
                  <a:srgbClr val="405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将需求讨论转化为可执行的算法服务方案，形成双方一致的实施依据。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34840" y="3063240"/>
            <a:ext cx="1645920" cy="384048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功能边界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063240"/>
            <a:ext cx="164592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接口形态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3063240"/>
            <a:ext cx="164592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57800" y="3840480"/>
            <a:ext cx="41148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34840" y="4800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405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功能边界 · 接口方案 · 数据条件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6563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今天只聚焦三项关键决策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405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议程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0" dirty="0">
                <a:solidFill>
                  <a:srgbClr val="9A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685800" cy="685800"/>
          </a:xfrm>
          <a:prstGeom prst="ellipse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9164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界面与业务流程由系统侧实现；算法侧提供短波 / 超短波算法内核及服务接口。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1325880"/>
            <a:ext cx="685800" cy="685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建议共同明确同步 / 异步、字段单位、错误码、超时与回调机制。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1325880"/>
            <a:ext cx="685800" cy="685800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98280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09828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节点规模、编成结构、地形、设备、频谱样例与部署环境决定算法深度。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3886200"/>
            <a:ext cx="10241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围绕“边界 / 接口 / 数据”形成一致结论，为后续实施奠定基础。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103120" y="4846320"/>
            <a:ext cx="7955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会议预期成果
共同明确业务目标与验收口径；实施计划基于关键输入进一步细化；新增需求形成评估结论与会议纪要。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03120" y="4892040"/>
            <a:ext cx="64008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35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工作边界：系统侧与算法侧分工协同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边界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一句话定位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系统侧负责界面与业务流程；算法侧提供短波 / 超短波计算能力。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系统侧
前端渲染
面板交互
资源树 / GIS 工作台
业务流程闭环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双方约定
HTTP / JSON
字段与单位
超时与错误码
同步 / 异步机制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算法侧
覆盖计算
路由规划
频率分配
知识图谱与故障推理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12480" y="2788920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977640" y="3703320"/>
            <a:ext cx="45720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772400" y="3703320"/>
            <a:ext cx="45720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371600" y="54864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建议采用独立算法软需 + 需求映射表，保持需求体系清晰一致。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64187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从界面动作到算法需求，需进一步明确四类约束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边界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3749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现有文档已明确
用户动作
界面入口
交互流程
结果展示方式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371600"/>
            <a:ext cx="64008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589520" y="1325880"/>
            <a:ext cx="3749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建议进一步明确
输入条件
输出结果
响应时限
精度、规模与约束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589520" y="1371600"/>
            <a:ext cx="64008" cy="3108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892040" y="2788920"/>
            <a:ext cx="237744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063240" y="4983480"/>
            <a:ext cx="6126480" cy="45720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建议共同明确业务期望，并转化为可验证的技术指标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148840" y="56875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统一指标口径，有助于方案设计、实施评估与后续验收。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5545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短波覆盖需支持环状、多区域与时变计算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技术对齐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超短波：视距传播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88720" y="1828800"/>
            <a:ext cx="1920240" cy="1920240"/>
          </a:xfrm>
          <a:prstGeom prst="ellipse">
            <a:avLst/>
          </a:prstGeom>
          <a:solidFill>
            <a:srgbClr val="DBEAFE">
              <a:alpha val="90000"/>
            </a:srgbClr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011680" y="265176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形态近似圆形
覆盖边界受地形遮挡影响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60520" y="132588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09160" y="1143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短波：天波 + 地波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92040" y="1645920"/>
            <a:ext cx="3703320" cy="3703320"/>
          </a:xfrm>
          <a:prstGeom prst="ellipse">
            <a:avLst/>
          </a:prstGeom>
          <a:solidFill>
            <a:srgbClr val="CCFBF1">
              <a:alpha val="45000"/>
            </a:srgbClr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715000" y="2468880"/>
            <a:ext cx="2057400" cy="2057400"/>
          </a:xfrm>
          <a:prstGeom prst="ellipse">
            <a:avLst/>
          </a:prstGeom>
          <a:solidFill>
            <a:srgbClr val="F6F8F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629400" y="3383280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5486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近处地波可达
中间静区不可达
远处天波落地后再次可达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81160" y="1828800"/>
            <a:ext cx="2240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能力建议
支持环状 / 多区域覆盖
支持按选定时刻计算
界面提供时间选择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281160" y="1874520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823960" y="4800600"/>
            <a:ext cx="297180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该能力直接关系覆盖结果的准确呈现与后续验收。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6467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“实时预览”建议按计算粒度分级设计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技术对齐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不同计算粒度建议采用差异化响应方式。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4206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单站覆盖
预计算 + 缓存
参数变化后刷新单张结果
接口形态：同步
目标：秒级响应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64008" cy="3017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32320" y="1920240"/>
            <a:ext cx="4206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全网规划
全网栅格覆盖 / 频率分配
耗时受节点规模影响
接口形态：异步任务
返回任务号 + 进度 / 回调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132320" y="1965960"/>
            <a:ext cx="64008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749040" y="5468112"/>
            <a:ext cx="4754880" cy="38404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建议本次会议共同明确两类接口形态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49240" y="3493008"/>
            <a:ext cx="150876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737360" y="60167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将“点击即出图”细化为“按计算粒度分级响应”。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57045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功能范围变化建议在会议纪要中统一确认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技术对齐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新增建议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4663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配置下发与校验
涉及电台设备、状态回执和协议文档
建议明确设备条件、接口资料与责任边界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673352"/>
            <a:ext cx="6400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4663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频谱数据接入
建议优先采用原始数据接口；如现阶段仅提供图片，可同步保留图片解析方案。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6400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922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现有内容建议确认呈现方式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627632"/>
            <a:ext cx="4663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干扰分析
当前需求已包含干扰源配置入口，建议进一步确认干扰计算与影响评估范围。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1673352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3520440"/>
            <a:ext cx="4663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设备数字孪生建模
相关内容已融入详情面板和知识图谱，建议确认是否保留独立模块。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356616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5669280"/>
            <a:ext cx="658368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建议共同确认：纳入本期 / 后续规划 / 暂不纳入。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9586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知识图谱建设成效取决于资料完整性与规范性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专题讨论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输入资料分两类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结构化数据
设备台账、参数表、编成表
要求：表头统一、口径统一、不合并单元格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64592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355080" y="16002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非结构化资料
说明书、操作规程、故障案例
要求：电子文本可复制，并配合样本标注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164592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" y="3429000"/>
            <a:ext cx="10515600" cy="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设备知识图谱
技术说明书
部件清单
操作规程
参数指标表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93192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480560" y="3886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网络态势知识图谱
组网规则
网系编成
频率规定
链路质量分级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480560" y="393192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092440" y="3886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故障知识图谱
故障案例
排障手册
历史维修记录
样本数量是关键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92440" y="393192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011680" y="58064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会后可形成：《知识图谱资料需求清单》+ 标准填报模板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811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分级通信会直接影响拓扑、路由与故障分析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专题讨论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49240" y="1143000"/>
            <a:ext cx="1371600" cy="438912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上级节点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2377440"/>
            <a:ext cx="118872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中继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81912"/>
            <a:ext cx="0" cy="795528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40680" y="2377440"/>
            <a:ext cx="118872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中继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581912"/>
            <a:ext cx="0" cy="795528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83880" y="2377440"/>
            <a:ext cx="118872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中继 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81912"/>
            <a:ext cx="2743200" cy="795528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103120" y="3657600"/>
            <a:ext cx="9144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9144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657600"/>
            <a:ext cx="9144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657600"/>
            <a:ext cx="9144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3657600"/>
            <a:ext cx="9144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3657600"/>
            <a:ext cx="9144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761488"/>
            <a:ext cx="0" cy="896112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291840" y="2761488"/>
            <a:ext cx="731520" cy="896112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35040" y="2761488"/>
            <a:ext cx="0" cy="896112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35040" y="2761488"/>
            <a:ext cx="731520" cy="896112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778240" y="2761488"/>
            <a:ext cx="0" cy="896112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778240" y="2761488"/>
            <a:ext cx="731520" cy="896112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560320" y="3657600"/>
            <a:ext cx="347472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34440" y="2907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应急越级链路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754880"/>
            <a:ext cx="5440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模型设计关注点
拓扑节点需包含：所属层级、网络角色
路由需支持：常态 / 应急两种模式
故障分析需考虑：上级节点对分支的影响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85800" y="4800600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0" y="475488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建议共同确认
网系编成结构（可脱敏）
越级触发条件与允许范围
人工触发或算法自动判断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400800" y="480060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28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部署规划与干扰源：先明确问题定义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专题讨论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移动台部署规划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推荐方案：给定数量，求最优位置
在现有车辆数量下优化部署位置
计算规模更可控，也更便于验证。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73736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辅助能力：资源不足时提示缺口
若现有数量无法满足覆盖，系统可提示资源缺口并给出优化建议。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347472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379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干扰源设置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应用场景需明确：仿真推演或现实探测
仿真推演：由用户配置干扰参数
探测定位：需结合设备与数据链路条件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0" y="173736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建议：建立典型参数库
按干扰类型预设频段、功率、带宽与方向性参数，支持用户选择和调整。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0" y="347472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011680" y="5577840"/>
            <a:ext cx="8138160" cy="3657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如纳入干扰分析，建议同步明确计算范围与验收要求。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87029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频谱图片可解析，但应优先获取原始数据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专题讨论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383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第一层：可解析，但有前提
图片分辨率足够
坐标轴刻度清晰
曲线颜色单一
量程尽量固定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1280160"/>
            <a:ext cx="64008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434840" y="1234440"/>
            <a:ext cx="3383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第二层：明确适用范围
可支持：频谱占用、空闲频点、粗略干扰频段
暂不建议用于：精确功率估计、调制识别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64008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92440" y="1234440"/>
            <a:ext cx="3383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第三层：建议双路接入
主路径：获取 trace / CSV / 标准指令数据
补充路径：保留图片解析接口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12801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920240" y="4709160"/>
            <a:ext cx="8321040" cy="4114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接口设计：同时支持“原始数据”和“图片”两种输入。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5577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建议提供：图片格式、分辨率、坐标轴样式、频率 / 幅度量程，以及至少两张样例图。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4981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算法能力以独立服务方式集成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技术方案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业务系统 Java 后端
业务编排
权限与日志
调用算法接口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10312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709160" y="20574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 + JSON
字段与单位
错误码
超时与回调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9160" y="210312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49640" y="20574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独立算法服务
覆盖 / 路由 / 频率
知识图谱 / 故障推理
频谱接入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549640" y="210312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767328" y="2788920"/>
            <a:ext cx="758952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589520" y="2788920"/>
            <a:ext cx="7772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模型选型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10607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短波链路预测：ITU-R P.533　　超短波覆盖：P.1546 + ITM / Longley-Rice
频率分配：图着色 + 遗传算法；多目标场景采用 NSGA-II
知识图谱：采用图数据库；故障诊断先建设规则推理能力，并结合语料成熟度逐步引入机器学习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97280" y="5806440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交付物：算法服务 + 接口文档 + 算法说明书 + 测试报告 + 典型想定演示数据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874245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先确认接口契约，再逐步接入算法能力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技术方案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覆盖与链路
单站覆盖计算（同步）
全网覆盖计算（异步）
链路质量评分（同步）
频谱数据接入（同步）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64008" cy="2240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343400" y="118872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规划与资源分配
候选部署位置筛选（同步）
移动台部署方案（异步）
路由规划：逐级 / 越级（同步）
频率资源分配（异步）
电台参数规划（同步）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64008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909560" y="118872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图谱与故障诊断
故障根因推理（同步）
故障影响范围分析（同步）
修复建议生成（同步）
知识图谱查询与推理（同步）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909560" y="123444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接口会议建议重点确认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727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字段命名规范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2628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727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单位：Hz / MHz、W / dBm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9244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727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错误码与异常返回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5330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超时阈值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5330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异步任务：轮询还是回调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97789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接口先行、并行联调，支持平滑接入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推进路径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530352" cy="53035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接口约定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090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/ 输出 / 单位 / 错误码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17520" y="2103120"/>
            <a:ext cx="41148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434840" y="1828800"/>
            <a:ext cx="530352" cy="5303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接口模拟服务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090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接口保持一致，先返回模拟数据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97880" y="2103120"/>
            <a:ext cx="41148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0" y="1828800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算法能力接入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090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算法能力按完成情况分批接入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0" y="2103120"/>
            <a:ext cx="41148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195560" y="1828800"/>
            <a:ext cx="530352" cy="530352"/>
          </a:xfrm>
          <a:prstGeom prst="ellipse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全流程联调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0" y="3090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使用共同想定数据跑通业务闭环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4572000"/>
            <a:ext cx="9692640" cy="50292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价值：前端可提前开展对接，无需等待全部算法完成；后续接入真实计算时接口保持不变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011680" y="5577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通过接口先行，可支持前后端并行开发并降低集成调整成本。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85382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按依赖关系推进，关键输入决定实施节奏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推进路径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188720" cy="384048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252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接口约定、数据字典、接口模拟服务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1252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无前置依赖，可立即启动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17320" y="1673352"/>
            <a:ext cx="0" cy="594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313432"/>
            <a:ext cx="11887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331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传播模型与覆盖计算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331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 地形、设备参数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417320" y="2752344"/>
            <a:ext cx="0" cy="594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392424"/>
            <a:ext cx="11887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3410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部署、路由与频率分配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3410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节点规模、编成结构、频率池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417320" y="3831336"/>
            <a:ext cx="0" cy="594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471416"/>
            <a:ext cx="1188720" cy="38404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4489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知识图谱与故障诊断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489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设备资料、故障案例语料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1143000"/>
            <a:ext cx="0" cy="443484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011680" y="5715000"/>
            <a:ext cx="813816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关键资料越早到位，越有利于方案从基础能力向完整能力逐步演进。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0643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本次需确认四类数据与资源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数据清单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环境与底座
规划区域 DEM
地物 / 路网
麒麟版本、CPU 架构、核数与 GPU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28016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通信资源
设备型号、频段、功率与天线
可用频率池、复用 / 保护间隔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组织与场景
网系分级结构与隶属关系
越级规则
至少一套典型任务想定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知识与频谱
说明书、规程与故障案例
干扰类型及典型参数
样例频谱图片 2 张 / 原始数据接口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3337560"/>
            <a:ext cx="6400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5669280"/>
            <a:ext cx="10012680" cy="4114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资料可采用脱敏版、摘要版或典型场景说明；关键是结构、规模与边界具备明确依据。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35755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六项建议在会上共同确认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现场确认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7043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4168" y="12070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干扰分析、设备数字孪生的本期范围如何界定？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344168" y="1847088"/>
            <a:ext cx="4572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44168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确认结论：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117043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2008" y="12070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配置下发涉及的设备条件与协议资料如何安排？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922008" y="1847088"/>
            <a:ext cx="4572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922008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确认结论：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58775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4168" y="262432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节点规模采用哪一套统一口径？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344168" y="3264408"/>
            <a:ext cx="4572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344168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确认结论：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258775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22008" y="262432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编号体系采用独立软需 + 映射表，还是统一合并？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922008" y="3264408"/>
            <a:ext cx="4572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22008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确认结论：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00507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44168" y="404164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图数据库的部署位置与运维分工如何安排？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344168" y="4681728"/>
            <a:ext cx="4572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344168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确认结论：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400507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22008" y="404164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实时状态数据如何获取？是否可先采用模拟数据？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922008" y="4681728"/>
            <a:ext cx="4572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922008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确认结论：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28800" y="5897880"/>
            <a:ext cx="8549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建议逐项形成会议结论，并同步纳入后续事项清单。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9839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双方分工明确，才能形成可执行共识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收束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2120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我方后续工作
1. 接口清单与字段定义
2. 知识图谱资料清单及模板
3. 会议纪要
4. 接口确认后的模拟服务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008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55080" y="1325880"/>
            <a:ext cx="50749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建议协同准备
调研文件 / 脱敏版
编成结构与越级规则
样例频谱图片 / 原始数据接口
部署环境与 CPU 架构
关键边界的确认结论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55080" y="1371600"/>
            <a:ext cx="64008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417320" y="4892040"/>
            <a:ext cx="9326880" cy="47548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待节点规模、地形数据和部署环境确认后，进一步细化实施计划与性能指标。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828800" y="57150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会议目标：把“口头理解”沉淀为“边界、接口、数据”的书面共识。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57600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6400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246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交流答疑参考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9264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答疑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56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无线通信需求对接会  19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实施周期如何安排？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11430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结合节点规模、数据条件与部署环境评估后，可进一步细化实施计划。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1709928"/>
            <a:ext cx="106070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响应时效如何设计？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单站查询可按秒级响应设计；全网规划建议采用异步任务。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2624328"/>
            <a:ext cx="106070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新增功能如何纳入？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29718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新增功能可结合接口影响、实施范围与优先级统一评估。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3538728"/>
            <a:ext cx="106070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算法指标如何确定？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38862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实现方案由算法侧设计，业务目标与验收指标建议双方共同确认。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453128"/>
            <a:ext cx="106070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资料暂不完整如何推进？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77640" y="4800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可先提供脱敏版或典型场景说明，由双方逐步补充并确认。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367528"/>
            <a:ext cx="106070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200400" y="59893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以上问题可结合现场讨论进一步确认。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804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CD8331-81F1-45CB-A982-6006239B0F93}">
  <we:reference id="wa200010215" version="2.0.0.0" store="zh-CN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1369</Words>
  <Application>Microsoft Office PowerPoint</Application>
  <PresentationFormat>宽屏</PresentationFormat>
  <Paragraphs>301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无线（短波/超短波）需求对接会</dc:title>
  <dc:subject>无线（短波/超短波）需求对接会发言辅助PPT</dc:subject>
  <dc:creator>OpenAI</dc:creator>
  <cp:lastModifiedBy>方传 魏</cp:lastModifiedBy>
  <cp:revision>8</cp:revision>
  <dcterms:created xsi:type="dcterms:W3CDTF">2026-08-21T03:39:21Z</dcterms:created>
  <dcterms:modified xsi:type="dcterms:W3CDTF">2026-08-21T04:06:20Z</dcterms:modified>
</cp:coreProperties>
</file>